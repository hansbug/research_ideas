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spPr>
            <a:solidFill>
              <a:srgbClr val="203354"/>
            </a:solidFill>
            <a:ln>
              <a:solidFill>
                <a:srgbClr val="203354"/>
              </a:solidFill>
            </a:ln>
          </c:spPr>
          <c:dPt>
            <c:idx val="0"/>
            <c:spPr>
              <a:solidFill>
                <a:srgbClr val="203354"/>
              </a:solidFill>
              <a:ln>
                <a:solidFill>
                  <a:srgbClr val="203354"/>
                </a:solidFill>
              </a:ln>
            </c:spPr>
          </c:dPt>
          <c:dPt>
            <c:idx val="1"/>
            <c:spPr>
              <a:solidFill>
                <a:srgbClr val="D8C4A3"/>
              </a:solidFill>
              <a:ln>
                <a:solidFill>
                  <a:srgbClr val="D8C4A3"/>
                </a:solidFill>
              </a:ln>
            </c:spPr>
          </c:dPt>
          <c:dPt>
            <c:idx val="2"/>
            <c:spPr>
              <a:solidFill>
                <a:srgbClr val="1D6F73"/>
              </a:solidFill>
              <a:ln>
                <a:solidFill>
                  <a:srgbClr val="1D6F73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Claude
单提示</c:v>
                </c:pt>
                <c:pt idx="1">
                  <c:v>GPT-4o
单提示</c:v>
                </c:pt>
                <c:pt idx="2">
                  <c:v>GPT-4o
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0.7029</c:v>
                </c:pt>
                <c:pt idx="1">
                  <c:v>0.5431</c:v>
                </c:pt>
                <c:pt idx="2">
                  <c:v>0.6559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5"/>
          <c:min val="0.0"/>
        </c:scaling>
        <c:delete val="0"/>
        <c:axPos val="l"/>
        <c:majorGridlines>
          <c:spPr>
            <a:ln>
              <a:solidFill>
                <a:srgbClr val="D7CFC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spPr>
            <a:solidFill>
              <a:srgbClr val="1D6F73"/>
            </a:solidFill>
            <a:ln>
              <a:solidFill>
                <a:srgbClr val="1D6F73"/>
              </a:solidFill>
            </a:ln>
          </c:spPr>
          <c:dPt>
            <c:idx val="0"/>
            <c:spPr>
              <a:solidFill>
                <a:srgbClr val="1D6F73"/>
              </a:solidFill>
              <a:ln>
                <a:solidFill>
                  <a:srgbClr val="1D6F73"/>
                </a:solidFill>
              </a:ln>
            </c:spPr>
          </c:dPt>
          <c:dPt>
            <c:idx val="1"/>
            <c:spPr>
              <a:solidFill>
                <a:srgbClr val="C8912C"/>
              </a:solidFill>
              <a:ln>
                <a:solidFill>
                  <a:srgbClr val="C8912C"/>
                </a:solidFill>
              </a:ln>
            </c:spPr>
          </c:dPt>
          <c:dPt>
            <c:idx val="2"/>
            <c:spPr>
              <a:solidFill>
                <a:srgbClr val="A04B39"/>
              </a:solidFill>
              <a:ln>
                <a:solidFill>
                  <a:srgbClr val="A04B39"/>
                </a:solidFill>
              </a:ln>
            </c:spPr>
          </c:dPt>
          <c:dPt>
            <c:idx val="3"/>
            <c:spPr>
              <a:solidFill>
                <a:srgbClr val="73876C"/>
              </a:solidFill>
              <a:ln>
                <a:solidFill>
                  <a:srgbClr val="73876C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格式</c:v>
                </c:pt>
                <c:pt idx="1">
                  <c:v>语法</c:v>
                </c:pt>
                <c:pt idx="2">
                  <c:v>语义</c:v>
                </c:pt>
                <c:pt idx="3">
                  <c:v>需求一致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94.6</c:v>
                </c:pt>
                <c:pt idx="1">
                  <c:v>88.0</c:v>
                </c:pt>
                <c:pt idx="2">
                  <c:v>43.1</c:v>
                </c:pt>
                <c:pt idx="3">
                  <c:v>37.3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7CFC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spPr>
            <a:solidFill>
              <a:srgbClr val="1D6F73"/>
            </a:solidFill>
            <a:ln>
              <a:solidFill>
                <a:srgbClr val="1D6F73"/>
              </a:solidFill>
            </a:ln>
          </c:spPr>
          <c:dPt>
            <c:idx val="0"/>
            <c:spPr>
              <a:solidFill>
                <a:srgbClr val="203354"/>
              </a:solidFill>
              <a:ln>
                <a:solidFill>
                  <a:srgbClr val="203354"/>
                </a:solidFill>
              </a:ln>
            </c:spPr>
          </c:dPt>
          <c:dPt>
            <c:idx val="1"/>
            <c:spPr>
              <a:solidFill>
                <a:srgbClr val="1D6F73"/>
              </a:solidFill>
              <a:ln>
                <a:solidFill>
                  <a:srgbClr val="1D6F73"/>
                </a:solidFill>
              </a:ln>
            </c:spPr>
          </c:dPt>
          <c:dPt>
            <c:idx val="2"/>
            <c:spPr>
              <a:solidFill>
                <a:srgbClr val="C8912C"/>
              </a:solidFill>
              <a:ln>
                <a:solidFill>
                  <a:srgbClr val="C8912C"/>
                </a:solidFill>
              </a:ln>
            </c:spPr>
          </c:dPt>
          <c:dPt>
            <c:idx val="3"/>
            <c:spPr>
              <a:solidFill>
                <a:srgbClr val="D8C4A3"/>
              </a:solidFill>
              <a:ln>
                <a:solidFill>
                  <a:srgbClr val="D8C4A3"/>
                </a:solidFill>
              </a:ln>
            </c:spPr>
          </c:dPt>
          <c:dPt>
            <c:idx val="4"/>
            <c:spPr>
              <a:solidFill>
                <a:srgbClr val="73876C"/>
              </a:solidFill>
              <a:ln>
                <a:solidFill>
                  <a:srgbClr val="73876C"/>
                </a:solidFill>
              </a:ln>
            </c:spPr>
          </c:dPt>
          <c:dPt>
            <c:idx val="5"/>
            <c:spPr>
              <a:solidFill>
                <a:srgbClr val="A04B39"/>
              </a:solidFill>
              <a:ln>
                <a:solidFill>
                  <a:srgbClr val="A04B39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FSM</c:v>
                </c:pt>
                <c:pt idx="1">
                  <c:v>EFSM</c:v>
                </c:pt>
                <c:pt idx="2">
                  <c:v>HSM</c:v>
                </c:pt>
                <c:pt idx="3">
                  <c:v>Protocol</c:v>
                </c:pt>
                <c:pt idx="4">
                  <c:v>Resource</c:v>
                </c:pt>
                <c:pt idx="5">
                  <c:v>Hybrid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</c:v>
                </c:pt>
                <c:pt idx="1">
                  <c:v>429</c:v>
                </c:pt>
                <c:pt idx="2">
                  <c:v>157</c:v>
                </c:pt>
                <c:pt idx="3">
                  <c:v>4</c:v>
                </c:pt>
                <c:pt idx="4">
                  <c:v>13</c:v>
                </c:pt>
                <c:pt idx="5">
                  <c:v>16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0.0"/>
          <c:min val="0.0"/>
        </c:scaling>
        <c:delete val="0"/>
        <c:axPos val="b"/>
        <c:majorGridlines>
          <c:spPr>
            <a:ln>
              <a:solidFill>
                <a:srgbClr val="D7CFC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spPr>
            <a:solidFill>
              <a:srgbClr val="203354"/>
            </a:solidFill>
            <a:ln>
              <a:solidFill>
                <a:srgbClr val="203354"/>
              </a:solidFill>
            </a:ln>
          </c:spPr>
          <c:dPt>
            <c:idx val="0"/>
            <c:spPr>
              <a:solidFill>
                <a:srgbClr val="203354"/>
              </a:solidFill>
              <a:ln>
                <a:solidFill>
                  <a:srgbClr val="203354"/>
                </a:solidFill>
              </a:ln>
            </c:spPr>
          </c:dPt>
          <c:dPt>
            <c:idx val="1"/>
            <c:spPr>
              <a:solidFill>
                <a:srgbClr val="1D6F73"/>
              </a:solidFill>
              <a:ln>
                <a:solidFill>
                  <a:srgbClr val="1D6F73"/>
                </a:solidFill>
              </a:ln>
            </c:spPr>
          </c:dPt>
          <c:dPt>
            <c:idx val="2"/>
            <c:spPr>
              <a:solidFill>
                <a:srgbClr val="C8912C"/>
              </a:solidFill>
              <a:ln>
                <a:solidFill>
                  <a:srgbClr val="C8912C"/>
                </a:solidFill>
              </a:ln>
            </c:spPr>
          </c:dPt>
          <c:dPt>
            <c:idx val="3"/>
            <c:spPr>
              <a:solidFill>
                <a:srgbClr val="A04B39"/>
              </a:solidFill>
              <a:ln>
                <a:solidFill>
                  <a:srgbClr val="A04B39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T0</c:v>
                </c:pt>
                <c:pt idx="1">
                  <c:v>T1</c:v>
                </c:pt>
                <c:pt idx="2">
                  <c:v>T2</c:v>
                </c:pt>
                <c:pt idx="3">
                  <c:v>T3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352</c:v>
                </c:pt>
                <c:pt idx="1">
                  <c:v>367</c:v>
                </c:pt>
                <c:pt idx="2">
                  <c:v>15</c:v>
                </c:pt>
                <c:pt idx="3">
                  <c:v>12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  <c:min val="0.0"/>
        </c:scaling>
        <c:delete val="0"/>
        <c:axPos val="l"/>
        <c:majorGridlines>
          <c:spPr>
            <a:ln>
              <a:solidFill>
                <a:srgbClr val="D7CFC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spPr>
            <a:solidFill>
              <a:srgbClr val="1D6F73"/>
            </a:solidFill>
            <a:ln>
              <a:solidFill>
                <a:srgbClr val="1D6F73"/>
              </a:solidFill>
            </a:ln>
          </c:spPr>
          <c:dPt>
            <c:idx val="0"/>
            <c:spPr>
              <a:solidFill>
                <a:srgbClr val="1D6F73"/>
              </a:solidFill>
              <a:ln>
                <a:solidFill>
                  <a:srgbClr val="1D6F73"/>
                </a:solidFill>
              </a:ln>
            </c:spPr>
          </c:dPt>
          <c:dPt>
            <c:idx val="1"/>
            <c:spPr>
              <a:solidFill>
                <a:srgbClr val="C8912C"/>
              </a:solidFill>
              <a:ln>
                <a:solidFill>
                  <a:srgbClr val="C8912C"/>
                </a:solidFill>
              </a:ln>
            </c:spPr>
          </c:dPt>
          <c:dPt>
            <c:idx val="2"/>
            <c:spPr>
              <a:solidFill>
                <a:srgbClr val="A04B39"/>
              </a:solidFill>
              <a:ln>
                <a:solidFill>
                  <a:srgbClr val="A04B39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显式时钟</c:v>
                </c:pt>
                <c:pt idx="1">
                  <c:v>层次</c:v>
                </c:pt>
                <c:pt idx="2">
                  <c:v>连续耦合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243</c:v>
                </c:pt>
                <c:pt idx="1">
                  <c:v>160</c:v>
                </c:pt>
                <c:pt idx="2">
                  <c:v>71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70.0"/>
          <c:min val="0.0"/>
        </c:scaling>
        <c:delete val="0"/>
        <c:axPos val="b"/>
        <c:majorGridlines>
          <c:spPr>
            <a:ln>
              <a:solidFill>
                <a:srgbClr val="D7CFC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spPr>
            <a:solidFill>
              <a:srgbClr val="203354"/>
            </a:solidFill>
            <a:ln>
              <a:solidFill>
                <a:srgbClr val="203354"/>
              </a:solidFill>
            </a:ln>
          </c:spPr>
          <c:dPt>
            <c:idx val="0"/>
            <c:spPr>
              <a:solidFill>
                <a:srgbClr val="203354"/>
              </a:solidFill>
              <a:ln>
                <a:solidFill>
                  <a:srgbClr val="203354"/>
                </a:solidFill>
              </a:ln>
            </c:spPr>
          </c:dPt>
          <c:dPt>
            <c:idx val="1"/>
            <c:spPr>
              <a:solidFill>
                <a:srgbClr val="1D6F73"/>
              </a:solidFill>
              <a:ln>
                <a:solidFill>
                  <a:srgbClr val="1D6F73"/>
                </a:solidFill>
              </a:ln>
            </c:spPr>
          </c:dPt>
          <c:dPt>
            <c:idx val="2"/>
            <c:spPr>
              <a:solidFill>
                <a:srgbClr val="A04B39"/>
              </a:solidFill>
              <a:ln>
                <a:solidFill>
                  <a:srgbClr val="A04B39"/>
                </a:solidFill>
              </a:ln>
            </c:spPr>
          </c:dPt>
          <c:dPt>
            <c:idx val="3"/>
            <c:spPr>
              <a:solidFill>
                <a:srgbClr val="73876C"/>
              </a:solidFill>
              <a:ln>
                <a:solidFill>
                  <a:srgbClr val="73876C"/>
                </a:solidFill>
              </a:ln>
            </c:spPr>
          </c:dPt>
          <c:dPt>
            <c:idx val="4"/>
            <c:spPr>
              <a:solidFill>
                <a:srgbClr val="D8C4A3"/>
              </a:solidFill>
              <a:ln>
                <a:solidFill>
                  <a:srgbClr val="D8C4A3"/>
                </a:solidFill>
              </a:ln>
            </c:spPr>
          </c:dPt>
          <c:dPt>
            <c:idx val="5"/>
            <c:spPr>
              <a:solidFill>
                <a:srgbClr val="C8912C"/>
              </a:solidFill>
              <a:ln>
                <a:solidFill>
                  <a:srgbClr val="C8912C"/>
                </a:solidFill>
              </a:ln>
            </c:spPr>
          </c:dPt>
          <c:dPt>
            <c:idx val="6"/>
            <c:spPr>
              <a:solidFill>
                <a:srgbClr val="203354"/>
              </a:solidFill>
              <a:ln>
                <a:solidFill>
                  <a:srgbClr val="203354"/>
                </a:solidFill>
              </a:ln>
            </c:spPr>
          </c:dPt>
          <c:cat>
            <c:strRef>
              <c:f>Sheet1!$A$2:$A$8</c:f>
              <c:strCache>
                <c:ptCount val="7"/>
                <c:pt idx="0">
                  <c:v>离散</c:v>
                </c:pt>
                <c:pt idx="1">
                  <c:v>Timed</c:v>
                </c:pt>
                <c:pt idx="2">
                  <c:v>Hybrid</c:v>
                </c:pt>
                <c:pt idx="3">
                  <c:v>Petri</c:v>
                </c:pt>
                <c:pt idx="4">
                  <c:v>契约</c:v>
                </c:pt>
                <c:pt idx="5">
                  <c:v>DSL</c:v>
                </c:pt>
                <c:pt idx="6">
                  <c:v>标准/元模型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160</c:v>
                </c:pt>
                <c:pt idx="1">
                  <c:v>96</c:v>
                </c:pt>
                <c:pt idx="2">
                  <c:v>46</c:v>
                </c:pt>
                <c:pt idx="3">
                  <c:v>28</c:v>
                </c:pt>
                <c:pt idx="4">
                  <c:v>31</c:v>
                </c:pt>
                <c:pt idx="5">
                  <c:v>59</c:v>
                </c:pt>
                <c:pt idx="6">
                  <c:v>264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90.0"/>
          <c:min val="0.0"/>
        </c:scaling>
        <c:delete val="0"/>
        <c:axPos val="b"/>
        <c:majorGridlines>
          <c:spPr>
            <a:ln>
              <a:solidFill>
                <a:srgbClr val="D7CFC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Noto Sans CJK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`今天我想把最近已经落地的材料、现在真正卡住的问题，以及我对下一步投稿主线的判断放在一条线上讲。`</a:t>
            </a:r>
          </a:p>
          <a:p/>
          <a:p>
            <a:r>
              <a:t>`重点不是把四个 project 都平均展开，而是想和您先对齐本学期应该先收束哪一个问题。`</a:t>
            </a:r>
          </a:p>
          <a:p/>
          <a:p>
            <a:r>
              <a:t>补充：</a:t>
            </a:r>
          </a:p>
          <a:p>
            <a:r>
              <a:t>`开场控制在 25 秒，先把讨论目的说清楚。`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`所以我这次不会按目录顺序把所有事情轮流过一遍，而是按三个需要拍板的决策组织材料。`</a:t>
            </a:r>
          </a:p>
          <a:p/>
          <a:p>
            <a:r>
              <a:t>`后面的每一页都服务于这三个问题中的至少一个，不会单独做信息堆砌。`</a:t>
            </a:r>
          </a:p>
          <a:p/>
          <a:p>
            <a:r>
              <a:t>补充：</a:t>
            </a:r>
          </a:p>
          <a:p>
            <a:r>
              <a:t>`指出三张卡时，从左到右念。`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`如果先把这一页压缩成一句话，就是现在材料并不少，真正决定论文能不能站住的，是问题边界能不能先收紧。`</a:t>
            </a:r>
          </a:p>
          <a:p/>
          <a:p>
            <a:r>
              <a:t>`后面我会分别用 project_1 的三条文库线、pyfcstm 和 pyudbm 的现状，以及几篇 baseline 的结果，把这六点判断展开。`</a:t>
            </a:r>
          </a:p>
          <a:p/>
          <a:p>
            <a:r>
              <a:t>补充：</a:t>
            </a:r>
          </a:p>
          <a:p>
            <a:r>
              <a:t>`六张卡逐张不要展开太多，每张一句即可。`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`如果只看博士全局，四个方向都重要；但如果加上这学期必须先发出第一篇会议论文这个约束，当前只有 project_1 同时具备问题、材料、baseline 和基础设施落点。`</a:t>
            </a:r>
          </a:p>
          <a:p/>
          <a:p>
            <a:r>
              <a:t>`我这里故意把 prior-year 的具体日期写上来，是为了说明这是按现实投稿节奏倒推出来的判断，而不是抽象偏好。`</a:t>
            </a:r>
          </a:p>
          <a:p/>
          <a:p>
            <a:r>
              <a:t>补充：</a:t>
            </a:r>
          </a:p>
          <a:p>
            <a:r>
              <a:t>`强调 2026 官方 CFP 仍要临投稿前回官方页面再核对。`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`我并不是要把 project_2 到 project_4 否掉，而是想强调这几条线现在是前后依赖关系，不是并列比赛。`</a:t>
            </a:r>
          </a:p>
          <a:p/>
          <a:p>
            <a:r>
              <a:t>`只要 project_1 的对象和目标形式主义没有先立稳，后面的验证和修复就很难围绕同一个模型对象做。`</a:t>
            </a:r>
          </a:p>
          <a:p/>
          <a:p>
            <a:r>
              <a:t>补充：</a:t>
            </a:r>
          </a:p>
          <a:p>
            <a:r>
              <a:t>`指流程图时按左到右。`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`这一页是 project_1 的整体索引。三条文库线加上一条仓库线，分别回答比较对象、真实样本、类型选型和落地基座。`</a:t>
            </a:r>
          </a:p>
          <a:p/>
          <a:p>
            <a:r>
              <a:t>`也正因为这四件事现在都已经有基础，我才认为 project_1 已经具备先写成论文的条件。`</a:t>
            </a:r>
          </a:p>
          <a:p/>
          <a:p>
            <a:r>
              <a:t>补充：</a:t>
            </a:r>
          </a:p>
          <a:p>
            <a:r>
              <a:t>`中央结论节点最后再读一次。`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`我不打算明天把 62 篇 baseline 都摊开，而是想把它说成一个经过筛选的比较集。`</a:t>
            </a:r>
          </a:p>
          <a:p/>
          <a:p>
            <a:r>
              <a:t>`这里更重要的不是总数，而是我们已经能清楚地区分哪几篇能直接比、哪几篇提供邻近任务证据、哪几篇提供 workflow 启发。`</a:t>
            </a:r>
          </a:p>
          <a:p/>
          <a:p>
            <a:r>
              <a:t>补充：</a:t>
            </a:r>
          </a:p>
          <a:p>
            <a:r>
              <a:t>`强调不是自然分布。`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`这页我想用几组最硬的数字把一个趋势说明白：一次生成当然有用，但它很快会卡在 action、复杂约束和语义一致性这些地方。`</a:t>
            </a:r>
          </a:p>
          <a:p/>
          <a:p>
            <a:r>
              <a:t>`一旦工作流里引入模型检查、格式校验、仿真或工具链反馈，结果就会明显更稳，所以我越来越不相信纯 prompt 会是长期答案。`</a:t>
            </a:r>
          </a:p>
          <a:p/>
          <a:p>
            <a:r>
              <a:t>补充：</a:t>
            </a:r>
          </a:p>
          <a:p>
            <a:r>
              <a:t>`提及 IEC 61499 那篇时，用一句话说明“接上仿真和代码生成后，方法性质就变了”。`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`sources 这一块我觉得必须先把方法论讲清楚，因为后面的 EFSM、HSM、T0、T1 占比很容易被误会成领域自然分布。`</a:t>
            </a:r>
          </a:p>
          <a:p/>
          <a:p>
            <a:r>
              <a:t>`实际上它已经是一个治理后的样本主集，目标就是服务后续数据集和论文对象收束。`</a:t>
            </a:r>
          </a:p>
          <a:p/>
          <a:p>
            <a:r>
              <a:t>补充：</a:t>
            </a:r>
          </a:p>
          <a:p>
            <a:r>
              <a:t>`warning ribbon 要点出来。`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`我这里故意把表格做成“指标加定义”的形式，因为如果只有标题和数字，导师很难判断这些统计到底在说明什么。`</a:t>
            </a:r>
          </a:p>
          <a:p/>
          <a:p>
            <a:r>
              <a:t>`现在这组数字最重要的意义是：样本主链已经够厚，真正该做的是围绕它定义论文对象和评测口径。`</a:t>
            </a:r>
          </a:p>
          <a:p/>
          <a:p>
            <a:r>
              <a:t>补充：</a:t>
            </a:r>
          </a:p>
          <a:p>
            <a:r>
              <a:t>`先念 big numbers，再看下方两张表。`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`这一页其实是在回答“为什么我想把论文对象先收束到 control-state layer”。`</a:t>
            </a:r>
          </a:p>
          <a:p/>
          <a:p>
            <a:r>
              <a:t>`因为当前主集里绝大多数正例都还是围绕离散阶段、guard、变量和层次结构展开，真正需要 hybrid 语义的只是很小的一部分。`</a:t>
            </a:r>
          </a:p>
          <a:p/>
          <a:p>
            <a:r>
              <a:t>补充：</a:t>
            </a:r>
          </a:p>
          <a:p>
            <a:r>
              <a:t>`念 713/746 这个比例时停顿一下。`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`如果只看前一页，很容易把它误解成“那我们就做最普通的 FSM 就行了”。`</a:t>
            </a:r>
          </a:p>
          <a:p/>
          <a:p>
            <a:r>
              <a:t>`这一页要强调的是，主链虽然是离散 control-state，但里面大量样本仍然带有局部 timer、显式时钟和层次关系，所以目标形式主义必须比扁平 FSM 更强。`</a:t>
            </a:r>
          </a:p>
          <a:p/>
          <a:p>
            <a:r>
              <a:t>补充：</a:t>
            </a:r>
          </a:p>
          <a:p>
            <a:r>
              <a:t>`先看左侧时间，再指右侧结构标签。`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`这页我想用几个很具体的系统把抽象统计落地。`</a:t>
            </a:r>
          </a:p>
          <a:p/>
          <a:p>
            <a:r>
              <a:t>`它们之所以重要，不是因为每个例子都要拿去做实验，而是因为它们把“状态机”这个词背后其实罩着几类不同问题，展示得非常直观。`</a:t>
            </a:r>
          </a:p>
          <a:p/>
          <a:p>
            <a:r>
              <a:t>补充：</a:t>
            </a:r>
          </a:p>
          <a:p>
            <a:r>
              <a:t>`五个样本只挑两三个展开说，不要每行都讲。`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`这条文库线给我的最大启发是，现代状态机研究早就不是只在发明新形式主义，而是在发明 profile、DSL、元模型和执行基础设施。`</a:t>
            </a:r>
          </a:p>
          <a:p/>
          <a:p>
            <a:r>
              <a:t>`这也正是 pyfcstm 为什么在学术叙事里可以有位置，因为我们其实是在主动选择并塑造一个适合 LLM 的 control-state profile。`</a:t>
            </a:r>
          </a:p>
          <a:p/>
          <a:p>
            <a:r>
              <a:t>补充：</a:t>
            </a:r>
          </a:p>
          <a:p>
            <a:r>
              <a:t>`右侧分支图最后落到 control-state + infrastructure。`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`这一页是整场汇报最关键的定义页。`</a:t>
            </a:r>
          </a:p>
          <a:p/>
          <a:p>
            <a:r>
              <a:t>`我现在越来越不想把“控制系统状态机”当成一个大口袋，因为 sources 和 state_machine_types 已经证明，这个词至少罩着离散监督控制和连续混成控制两类完全不同的问题。`</a:t>
            </a:r>
          </a:p>
          <a:p/>
          <a:p>
            <a:r>
              <a:t>`如果第一篇论文先把左边这列讲透，我觉得问题会更稳，也更容易做出可执行实验。`</a:t>
            </a:r>
          </a:p>
          <a:p/>
          <a:p>
            <a:r>
              <a:t>补充：</a:t>
            </a:r>
          </a:p>
          <a:p>
            <a:r>
              <a:t>`这页多停留几秒，等导师看表。`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`我想把 pyfcstm 的叙事从“最近写了不少功能”换成“已经形成了一个可执行控制状态基础设施骨架”。`</a:t>
            </a:r>
          </a:p>
          <a:p/>
          <a:p>
            <a:r>
              <a:t>`现在它至少已经把模块化、运行语义、代码生成、工具支持和后续验证接口这些关键层都搭起来了。`</a:t>
            </a:r>
          </a:p>
          <a:p/>
          <a:p>
            <a:r>
              <a:t>补充：</a:t>
            </a:r>
          </a:p>
          <a:p>
            <a:r>
              <a:t>`main HEAD 可以快速带一下，不用停留。`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`如果论文里只是把 pyfcstm 当成实现细节，我觉得会浪费掉它最重要的研究意义。`</a:t>
            </a:r>
          </a:p>
          <a:p/>
          <a:p>
            <a:r>
              <a:t>`它真正回答的是：我们到底让 LLM 生成什么对象，这个对象为什么既可执行、可校验，又适合作为后续验证和修复的共同基座。`</a:t>
            </a:r>
          </a:p>
          <a:p/>
          <a:p>
            <a:r>
              <a:t>补充：</a:t>
            </a:r>
          </a:p>
          <a:p>
            <a:r>
              <a:t>`指管线图时强调 parser/runtime 是第一层反馈。`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`这页的目标是把 project_3 讲得既诚实又准确。`</a:t>
            </a:r>
          </a:p>
          <a:p/>
          <a:p>
            <a:r>
              <a:t>`诚实的部分是它还没有完整验证器；准确的部分是它并不是空白，而是大量 timed backend 和文献整理工作已经集中在 pyudbm 里做了。`</a:t>
            </a:r>
          </a:p>
          <a:p/>
          <a:p>
            <a:r>
              <a:t>补充：</a:t>
            </a:r>
          </a:p>
          <a:p>
            <a:r>
              <a:t>`指出 178 个 official files 是样本地基。`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`我现在最想强调的一点其实在这里。`</a:t>
            </a:r>
          </a:p>
          <a:p/>
          <a:p>
            <a:r>
              <a:t>`这些 baseline 的共同证据都在提示同一个方向：让 LLM 单次想得更聪明当然有帮助，但真正把质量拉上去的，是 parser、仿真器、model checker 和 regression trace 这些基础设施提供的连续反馈。`</a:t>
            </a:r>
          </a:p>
          <a:p/>
          <a:p>
            <a:r>
              <a:t>`这也是为什么我会越来越看重 pyfcstm 这类可执行目标对象。`</a:t>
            </a:r>
          </a:p>
          <a:p/>
          <a:p>
            <a:r>
              <a:t>补充：</a:t>
            </a:r>
          </a:p>
          <a:p>
            <a:r>
              <a:t>`中央闭环先念一圈，再看四张 evidence cards。`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`最后我最希望明天讨论能落到这五个具体问题上。`</a:t>
            </a:r>
          </a:p>
          <a:p/>
          <a:p>
            <a:r>
              <a:t>`只要这五件事里有三四件能拍板，后面 6 周其实就可以很明确地按“对象收束、实验拉厚、初稿成型”这条线推进。`</a:t>
            </a:r>
          </a:p>
          <a:p/>
          <a:p>
            <a:r>
              <a:t>`如果您觉得其中某个判断有问题，我也希望优先把那个问题挑出来，而不是继续平均铺开。`</a:t>
            </a:r>
          </a:p>
          <a:p/>
          <a:p>
            <a:r>
              <a:t>补充：</a:t>
            </a:r>
          </a:p>
          <a:p>
            <a:r>
              <a:t>`最后一句停顿，进入讨论。`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818120" y="822960"/>
            <a:ext cx="3474720" cy="4754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818120" y="822960"/>
            <a:ext cx="146304" cy="4754880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6217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03354"/>
                </a:solidFill>
                <a:latin typeface="Noto Serif CJK SC"/>
              </a:rPr>
              <a:t>2026-04-15-讨论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91640"/>
            <a:ext cx="5943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430"/>
                </a:solidFill>
                <a:latin typeface="Noto Serif CJK SC"/>
              </a:rPr>
              <a:t>当前进展、问题收束</a:t>
            </a:r>
          </a:p>
          <a:p>
            <a:pPr algn="l"/>
            <a:r>
              <a:rPr sz="2200" b="1">
                <a:solidFill>
                  <a:srgbClr val="1F2430"/>
                </a:solidFill>
                <a:latin typeface="Noto Serif CJK SC"/>
              </a:rPr>
              <a:t>与下一步投稿判断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8707E"/>
                </a:solidFill>
                <a:latin typeface="Noto Sans CJK SC"/>
              </a:rPr>
              <a:t>这次汇报只做三件事：给出现状判断、解释为什么先收束 project_1、以及明确需要拍板的问题。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1600200" cy="347472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685032"/>
            <a:ext cx="1600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project_1 优先级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3657600"/>
            <a:ext cx="1463040" cy="347472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685032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pyfcstm vs pyudbm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3657600"/>
            <a:ext cx="1600200" cy="347472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3685032"/>
            <a:ext cx="1600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430"/>
                </a:solidFill>
                <a:latin typeface="Noto Sans CJK SC"/>
              </a:rPr>
              <a:t>control-state 定义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203354"/>
                </a:solidFill>
                <a:latin typeface="Noto Sans CJK SC"/>
              </a:rPr>
              <a:t>博士研究进展对齐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051560"/>
            <a:ext cx="2834640" cy="8686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92440" y="1051560"/>
            <a:ext cx="2834640" cy="91440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1179576"/>
            <a:ext cx="25420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project_1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1399032"/>
            <a:ext cx="25420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30" b="0">
                <a:solidFill>
                  <a:srgbClr val="1F2430"/>
                </a:solidFill>
                <a:latin typeface="Noto Sans CJK SC"/>
              </a:rPr>
              <a:t>建模主线 / 当前优先级最高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2057400"/>
            <a:ext cx="2834640" cy="8686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2440" y="2057400"/>
            <a:ext cx="2834640" cy="91440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185416"/>
            <a:ext cx="25420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project_2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2404872"/>
            <a:ext cx="25420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30" b="0">
                <a:solidFill>
                  <a:srgbClr val="1F2430"/>
                </a:solidFill>
                <a:latin typeface="Noto Sans CJK SC"/>
              </a:rPr>
              <a:t>性质与场景生成 / 接口层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3063240"/>
            <a:ext cx="2834640" cy="8686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92440" y="3063240"/>
            <a:ext cx="2834640" cy="91440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38744" y="3191256"/>
            <a:ext cx="25420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project_3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8744" y="3410712"/>
            <a:ext cx="25420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30" b="0">
                <a:solidFill>
                  <a:srgbClr val="1F2430"/>
                </a:solidFill>
                <a:latin typeface="Noto Sans CJK SC"/>
              </a:rPr>
              <a:t>verification backend / 地基已起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069080"/>
            <a:ext cx="2834640" cy="8686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92440" y="4069080"/>
            <a:ext cx="2834640" cy="91440"/>
          </a:xfrm>
          <a:prstGeom prst="roundRect">
            <a:avLst/>
          </a:prstGeom>
          <a:solidFill>
            <a:srgbClr val="73876C"/>
          </a:solidFill>
          <a:ln w="12700">
            <a:solidFill>
              <a:srgbClr val="738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38744" y="4197096"/>
            <a:ext cx="25420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project_4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8744" y="4416552"/>
            <a:ext cx="25420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30" b="0">
                <a:solidFill>
                  <a:srgbClr val="1F2430"/>
                </a:solidFill>
                <a:latin typeface="Noto Sans CJK SC"/>
              </a:rPr>
              <a:t>iterative repair / 依赖前置成熟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138928"/>
            <a:ext cx="2651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68707E"/>
                </a:solidFill>
                <a:latin typeface="Noto Sans CJK SC"/>
              </a:rPr>
              <a:t>日期 2026-04-15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[1][2][7]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01/20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总体判断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明天这次讨论，我最希望先对齐三个决策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先拍板问题边界，再决定论文如何写和接下来 6 周怎么推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17320"/>
            <a:ext cx="3182112" cy="182880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417320"/>
            <a:ext cx="3182112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59" y="1581912"/>
            <a:ext cx="502920" cy="301752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1609344"/>
            <a:ext cx="502920" cy="2834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581912"/>
            <a:ext cx="226771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本学期主投稿是否明确锁定 `project_1`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93392"/>
            <a:ext cx="28529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先做 focused paper，而不是一次性拉四个 project。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6512" y="1417320"/>
            <a:ext cx="3182112" cy="182880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6512" y="1417320"/>
            <a:ext cx="3182112" cy="10972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61104" y="1581912"/>
            <a:ext cx="502920" cy="301752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1609344"/>
            <a:ext cx="502920" cy="2834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1581912"/>
            <a:ext cx="226771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论文对象是否先限定为离散 `control-state layer`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1104" y="1993392"/>
            <a:ext cx="28529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把模式、阶段、互锁、恢复、局部定时这一层先讲透。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34656" y="1417320"/>
            <a:ext cx="3182112" cy="182880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34656" y="1417320"/>
            <a:ext cx="3182112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99248" y="1581912"/>
            <a:ext cx="502920" cy="301752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99248" y="1609344"/>
            <a:ext cx="502920" cy="2834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1581912"/>
            <a:ext cx="226771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`pyfcstm` 与 `pyudbm` 是否分担建模基座与验证地基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1993392"/>
            <a:ext cx="28529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一个回答目标对象，一个沉淀 timed backend。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703320"/>
            <a:ext cx="2926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03354"/>
                </a:solidFill>
                <a:latin typeface="Noto Sans CJK SC"/>
              </a:rPr>
              <a:t>后续展开顺序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069080"/>
            <a:ext cx="2606040" cy="65836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13232" y="4069080"/>
            <a:ext cx="109728" cy="65836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270248"/>
            <a:ext cx="2148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F2430"/>
                </a:solidFill>
                <a:latin typeface="Noto Sans CJK SC"/>
              </a:rPr>
              <a:t>1. 结论先给</a:t>
            </a:r>
          </a:p>
        </p:txBody>
      </p:sp>
      <p:sp>
        <p:nvSpPr>
          <p:cNvPr id="31" name="Chevron 30"/>
          <p:cNvSpPr/>
          <p:nvPr/>
        </p:nvSpPr>
        <p:spPr>
          <a:xfrm>
            <a:off x="3419856" y="4233672"/>
            <a:ext cx="365760" cy="310896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74720" y="4069080"/>
            <a:ext cx="2606040" cy="65836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74720" y="4069080"/>
            <a:ext cx="109728" cy="65836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5887" y="4270248"/>
            <a:ext cx="2148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F2430"/>
                </a:solidFill>
                <a:latin typeface="Noto Sans CJK SC"/>
              </a:rPr>
              <a:t>2. project_1 文库证据</a:t>
            </a:r>
          </a:p>
        </p:txBody>
      </p:sp>
      <p:sp>
        <p:nvSpPr>
          <p:cNvPr id="35" name="Chevron 34"/>
          <p:cNvSpPr/>
          <p:nvPr/>
        </p:nvSpPr>
        <p:spPr>
          <a:xfrm>
            <a:off x="6181344" y="4233672"/>
            <a:ext cx="365760" cy="310896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36208" y="4069080"/>
            <a:ext cx="2606040" cy="65836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36208" y="4069080"/>
            <a:ext cx="109728" cy="65836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37376" y="4270248"/>
            <a:ext cx="2148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F2430"/>
                </a:solidFill>
                <a:latin typeface="Noto Sans CJK SC"/>
              </a:rPr>
              <a:t>3. 基础设施与仓库进展</a:t>
            </a:r>
          </a:p>
        </p:txBody>
      </p:sp>
      <p:sp>
        <p:nvSpPr>
          <p:cNvPr id="39" name="Chevron 38"/>
          <p:cNvSpPr/>
          <p:nvPr/>
        </p:nvSpPr>
        <p:spPr>
          <a:xfrm>
            <a:off x="8942832" y="4233672"/>
            <a:ext cx="365760" cy="310896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997696" y="4069080"/>
            <a:ext cx="2606040" cy="65836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4069080"/>
            <a:ext cx="109728" cy="658368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98864" y="4270248"/>
            <a:ext cx="2148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F2430"/>
                </a:solidFill>
                <a:latin typeface="Noto Sans CJK SC"/>
              </a:rPr>
              <a:t>4. 拍板事项与倒排计划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074920"/>
            <a:ext cx="10744200" cy="822960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31520" y="5074920"/>
            <a:ext cx="10744200" cy="9144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5202936"/>
            <a:ext cx="10451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一句话主线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" y="5422392"/>
            <a:ext cx="104515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30" b="0">
                <a:solidFill>
                  <a:srgbClr val="1F2430"/>
                </a:solidFill>
                <a:latin typeface="Noto Sans CJK SC"/>
              </a:rPr>
              <a:t>不是再去找更多材料，而是让现有材料收敛成一篇问题边界清楚、对象清楚、基础设施落点清楚的会议论文。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[1][2][7][15]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02/20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总体判断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当前最缺的不是材料，而是把问题对象收束清楚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一页结论先给出来，后面逐页用文库与仓库证据补强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1325880"/>
            <a:ext cx="2880360" cy="157276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325880"/>
            <a:ext cx="288036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1490472"/>
            <a:ext cx="502920" cy="301752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517904"/>
            <a:ext cx="502920" cy="2834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490472"/>
            <a:ext cx="1965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先发 `project_1`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1901952"/>
            <a:ext cx="2551176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本学期第一优先级应先把 focused paper 发出去。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41648" y="1325880"/>
            <a:ext cx="2880360" cy="157276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41648" y="1325880"/>
            <a:ext cx="2880360" cy="10972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06240" y="1490472"/>
            <a:ext cx="502920" cy="301752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1517904"/>
            <a:ext cx="502920" cy="2834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1490472"/>
            <a:ext cx="1965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真正缺的是收束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1901952"/>
            <a:ext cx="2551176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`project_1` 当前不缺样本，缺的是问题定义。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1325880"/>
            <a:ext cx="2880360" cy="157276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1325880"/>
            <a:ext cx="2880360" cy="109728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71231" y="1490472"/>
            <a:ext cx="502920" cy="301752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71231" y="1517904"/>
            <a:ext cx="502920" cy="2834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6448" y="1490472"/>
            <a:ext cx="1965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先做离散 control-state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1901952"/>
            <a:ext cx="2551176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目标对象先落到模式、阶段、互锁、恢复、局部 timer。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" y="3255264"/>
            <a:ext cx="2880360" cy="157276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" y="3255264"/>
            <a:ext cx="2880360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1247" y="3419856"/>
            <a:ext cx="502920" cy="301752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3447288"/>
            <a:ext cx="502920" cy="2834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3419856"/>
            <a:ext cx="1965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`pyfcstm` 是研究答案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" y="3831336"/>
            <a:ext cx="2551176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它应被写成 executable control-state infrastructure。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41648" y="3255264"/>
            <a:ext cx="2880360" cy="157276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41648" y="3255264"/>
            <a:ext cx="2880360" cy="109728"/>
          </a:xfrm>
          <a:prstGeom prst="roundRect">
            <a:avLst/>
          </a:prstGeom>
          <a:solidFill>
            <a:srgbClr val="73876C"/>
          </a:solidFill>
          <a:ln w="12700">
            <a:solidFill>
              <a:srgbClr val="738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06240" y="3419856"/>
            <a:ext cx="502920" cy="301752"/>
          </a:xfrm>
          <a:prstGeom prst="roundRect">
            <a:avLst/>
          </a:prstGeom>
          <a:solidFill>
            <a:srgbClr val="73876C"/>
          </a:solidFill>
          <a:ln w="12700">
            <a:solidFill>
              <a:srgbClr val="738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3447288"/>
            <a:ext cx="502920" cy="2834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1456" y="3419856"/>
            <a:ext cx="1965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`project_3` 有地基但未成型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3831336"/>
            <a:ext cx="2551176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`pyudbm` 已推进很深，但 verifyta 核心搜索仍缺。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06640" y="3255264"/>
            <a:ext cx="2880360" cy="157276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406640" y="3255264"/>
            <a:ext cx="288036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571231" y="3419856"/>
            <a:ext cx="502920" cy="301752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71231" y="3447288"/>
            <a:ext cx="502920" cy="2834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3419856"/>
            <a:ext cx="1965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反馈基础设施最关键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1" y="3831336"/>
            <a:ext cx="2551176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LLM-based modeling 的杀手锏是持续反馈，而不只是 prompt。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9808" y="5166360"/>
            <a:ext cx="10680192" cy="822960"/>
          </a:xfrm>
          <a:prstGeom prst="roundRect">
            <a:avLst/>
          </a:prstGeom>
          <a:solidFill>
            <a:srgbClr val="DCEDEA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49808" y="5166360"/>
            <a:ext cx="10680192" cy="9144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294376"/>
            <a:ext cx="10387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Take-home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" y="5513832"/>
            <a:ext cx="10387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30" b="0">
                <a:solidFill>
                  <a:srgbClr val="1F2430"/>
                </a:solidFill>
                <a:latin typeface="Noto Sans CJK SC"/>
              </a:rPr>
              <a:t>先收束对象，再拉厚实验；只要定义稳住，现有文库和仓库推进已经足以支撑一篇 conference-style 论文。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[1][2][4][5][7][9][12][17]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03/20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总体判断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站在本学期投稿窗口看，只有 project_1 适合先冲出去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近端会议时间窗口 + 当前准备度 两条线必须同时看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234440"/>
            <a:ext cx="29260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203354"/>
                </a:solidFill>
                <a:latin typeface="Noto Sans CJK SC"/>
              </a:rPr>
              <a:t>prior-year deadline 参考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81328"/>
            <a:ext cx="10744200" cy="118872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51560" y="2039112"/>
            <a:ext cx="9966960" cy="36576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7190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68707E"/>
                </a:solidFill>
                <a:latin typeface="Noto Sans Mono CJK SC"/>
              </a:rPr>
              <a:t>2026-03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7190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68707E"/>
                </a:solidFill>
                <a:latin typeface="Noto Sans Mono CJK SC"/>
              </a:rPr>
              <a:t>2026-04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7190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68707E"/>
                </a:solidFill>
                <a:latin typeface="Noto Sans Mono CJK SC"/>
              </a:rPr>
              <a:t>2026-05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7190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68707E"/>
                </a:solidFill>
                <a:latin typeface="Noto Sans Mono CJK SC"/>
              </a:rPr>
              <a:t>2026-06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34440" y="1700784"/>
            <a:ext cx="914400" cy="219456"/>
          </a:xfrm>
          <a:prstGeom prst="roundRect">
            <a:avLst/>
          </a:prstGeom>
          <a:solidFill>
            <a:srgbClr val="F2E4DE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1709928"/>
            <a:ext cx="914400" cy="21031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80" b="1">
                <a:solidFill>
                  <a:srgbClr val="1F2430"/>
                </a:solidFill>
                <a:latin typeface="Noto Sans CJK SC"/>
              </a:rPr>
              <a:t>RE 2025</a:t>
            </a:r>
          </a:p>
          <a:p>
            <a:pPr algn="ctr"/>
            <a:r>
              <a:rPr sz="880" b="1">
                <a:solidFill>
                  <a:srgbClr val="1F2430"/>
                </a:solidFill>
                <a:latin typeface="Noto Sans CJK SC"/>
              </a:rPr>
              <a:t>03-10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1700784"/>
            <a:ext cx="1005840" cy="219456"/>
          </a:xfrm>
          <a:prstGeom prst="roundRect">
            <a:avLst/>
          </a:prstGeom>
          <a:solidFill>
            <a:srgbClr val="DCEDEA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1720" y="1709928"/>
            <a:ext cx="1005840" cy="21031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80" b="1">
                <a:solidFill>
                  <a:srgbClr val="1F2430"/>
                </a:solidFill>
                <a:latin typeface="Noto Sans CJK SC"/>
              </a:rPr>
              <a:t>MoDELS 2025</a:t>
            </a:r>
          </a:p>
          <a:p>
            <a:pPr algn="ctr"/>
            <a:r>
              <a:rPr sz="880" b="1">
                <a:solidFill>
                  <a:srgbClr val="1F2430"/>
                </a:solidFill>
                <a:latin typeface="Noto Sans CJK SC"/>
              </a:rPr>
              <a:t>04-03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77840" y="1700784"/>
            <a:ext cx="914400" cy="219456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1709928"/>
            <a:ext cx="914400" cy="21031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80" b="1">
                <a:solidFill>
                  <a:srgbClr val="1F2430"/>
                </a:solidFill>
                <a:latin typeface="Noto Sans CJK SC"/>
              </a:rPr>
              <a:t>FM 参考</a:t>
            </a:r>
          </a:p>
          <a:p>
            <a:pPr algn="ctr"/>
            <a:r>
              <a:rPr sz="880" b="1">
                <a:solidFill>
                  <a:srgbClr val="1F2430"/>
                </a:solidFill>
                <a:latin typeface="Noto Sans CJK SC"/>
              </a:rPr>
              <a:t>4 月下旬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60" y="1700784"/>
            <a:ext cx="1188720" cy="219456"/>
          </a:xfrm>
          <a:prstGeom prst="roundRect">
            <a:avLst/>
          </a:prstGeom>
          <a:solidFill>
            <a:srgbClr val="DDE9EE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1709928"/>
            <a:ext cx="1188720" cy="21031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80" b="1">
                <a:solidFill>
                  <a:srgbClr val="1F2430"/>
                </a:solidFill>
                <a:latin typeface="Noto Sans CJK SC"/>
              </a:rPr>
              <a:t>ASE 2025</a:t>
            </a:r>
          </a:p>
          <a:p>
            <a:pPr algn="ctr"/>
            <a:r>
              <a:rPr sz="880" b="1">
                <a:solidFill>
                  <a:srgbClr val="1F2430"/>
                </a:solidFill>
                <a:latin typeface="Noto Sans CJK SC"/>
              </a:rPr>
              <a:t>05-30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41080" y="1700784"/>
            <a:ext cx="1737360" cy="219456"/>
          </a:xfrm>
          <a:prstGeom prst="roundRect">
            <a:avLst/>
          </a:prstGeom>
          <a:solidFill>
            <a:srgbClr val="E3EBDD"/>
          </a:solidFill>
          <a:ln w="12700">
            <a:solidFill>
              <a:srgbClr val="738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1080" y="1709928"/>
            <a:ext cx="1737360" cy="21031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80" b="1">
                <a:solidFill>
                  <a:srgbClr val="1F2430"/>
                </a:solidFill>
                <a:latin typeface="Noto Sans CJK SC"/>
              </a:rPr>
              <a:t>SoSyM / STVR</a:t>
            </a:r>
          </a:p>
          <a:p>
            <a:pPr algn="ctr"/>
            <a:r>
              <a:rPr sz="880" b="1">
                <a:solidFill>
                  <a:srgbClr val="1F2430"/>
                </a:solidFill>
                <a:latin typeface="Noto Sans CJK SC"/>
              </a:rPr>
              <a:t>rolling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0832" y="1463040"/>
            <a:ext cx="27432" cy="896112"/>
          </a:xfrm>
          <a:prstGeom prst="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0" y="1417320"/>
            <a:ext cx="10972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203354"/>
                </a:solidFill>
                <a:latin typeface="Noto Sans Mono CJK SC"/>
              </a:rPr>
              <a:t>当前点</a:t>
            </a:r>
          </a:p>
          <a:p>
            <a:pPr algn="ctr"/>
            <a:r>
              <a:rPr sz="850" b="0">
                <a:solidFill>
                  <a:srgbClr val="203354"/>
                </a:solidFill>
                <a:latin typeface="Noto Sans Mono CJK SC"/>
              </a:rPr>
              <a:t>2026-04-14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2880360"/>
            <a:ext cx="29260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203354"/>
                </a:solidFill>
                <a:latin typeface="Noto Sans CJK SC"/>
              </a:rPr>
              <a:t>当前准备度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200400"/>
            <a:ext cx="1234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Mono CJK SC"/>
              </a:rPr>
              <a:t>project_1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11680" y="3218688"/>
            <a:ext cx="4023360" cy="164592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F0E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11680" y="3218688"/>
            <a:ext cx="3701491" cy="164592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3172968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68707E"/>
                </a:solidFill>
                <a:latin typeface="Noto Sans CJK SC"/>
              </a:rPr>
              <a:t>问题、文库、baseline、pyfcstm 都已具备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3712464"/>
            <a:ext cx="1234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Mono CJK SC"/>
              </a:rPr>
              <a:t>project_2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0" y="3730752"/>
            <a:ext cx="4023360" cy="164592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F0E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011680" y="3730752"/>
            <a:ext cx="2253081" cy="164592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3685032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68707E"/>
                </a:solidFill>
                <a:latin typeface="Noto Sans CJK SC"/>
              </a:rPr>
              <a:t>接口层有意义，但当前不适合单独先发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224528"/>
            <a:ext cx="1234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Mono CJK SC"/>
              </a:rPr>
              <a:t>project_3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0" y="4242816"/>
            <a:ext cx="4023360" cy="164592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F0E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011680" y="4242816"/>
            <a:ext cx="1770278" cy="164592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4197096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68707E"/>
                </a:solidFill>
                <a:latin typeface="Noto Sans CJK SC"/>
              </a:rPr>
              <a:t>backend 地基较深，验证原型尚未成型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4736592"/>
            <a:ext cx="1234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Mono CJK SC"/>
              </a:rPr>
              <a:t>project_4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0" y="4754880"/>
            <a:ext cx="4023360" cy="164592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F0E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11680" y="4754880"/>
            <a:ext cx="965606" cy="164592"/>
          </a:xfrm>
          <a:prstGeom prst="roundRect">
            <a:avLst/>
          </a:prstGeom>
          <a:solidFill>
            <a:srgbClr val="73876C"/>
          </a:solidFill>
          <a:ln w="12700">
            <a:solidFill>
              <a:srgbClr val="738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470916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68707E"/>
                </a:solidFill>
                <a:latin typeface="Noto Sans CJK SC"/>
              </a:rPr>
              <a:t>依赖前几项更成熟后再起飞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37960" y="3063240"/>
            <a:ext cx="4983480" cy="196596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37960" y="3063240"/>
            <a:ext cx="498348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02552" y="3227832"/>
            <a:ext cx="46542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03354"/>
                </a:solidFill>
                <a:latin typeface="Noto Serif CJK SC"/>
              </a:rPr>
              <a:t>页面结论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02552" y="3639312"/>
            <a:ext cx="4654296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RE / MoDELS 风格窗口基本已过。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ASE-style automation + infrastructure 写法仍是近端最现实目标。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所以这学期不宜再把主问题做散。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[1][15]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04/20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总体判断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四个 project 是一条闭环，但近端主线必须先落在 project_1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先把建模对象和目标形式主义立住，后面的 scenario、verification、repair 才有共同基座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1828800" cy="822960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21408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2430"/>
                </a:solidFill>
                <a:latin typeface="Noto Sans CJK SC"/>
              </a:rPr>
              <a:t>需求 / 描述</a:t>
            </a:r>
          </a:p>
        </p:txBody>
      </p:sp>
      <p:sp>
        <p:nvSpPr>
          <p:cNvPr id="11" name="Chevron 10"/>
          <p:cNvSpPr/>
          <p:nvPr/>
        </p:nvSpPr>
        <p:spPr>
          <a:xfrm>
            <a:off x="2679192" y="2112264"/>
            <a:ext cx="384048" cy="310896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44952" y="1874519"/>
            <a:ext cx="1828800" cy="822960"/>
          </a:xfrm>
          <a:prstGeom prst="roundRect">
            <a:avLst/>
          </a:prstGeom>
          <a:solidFill>
            <a:srgbClr val="DCEDEA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2121408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2430"/>
                </a:solidFill>
                <a:latin typeface="Noto Sans CJK SC"/>
              </a:rPr>
              <a:t>建模</a:t>
            </a:r>
          </a:p>
        </p:txBody>
      </p:sp>
      <p:sp>
        <p:nvSpPr>
          <p:cNvPr id="14" name="Chevron 13"/>
          <p:cNvSpPr/>
          <p:nvPr/>
        </p:nvSpPr>
        <p:spPr>
          <a:xfrm>
            <a:off x="4946904" y="2112264"/>
            <a:ext cx="384048" cy="310896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12664" y="1874519"/>
            <a:ext cx="1828800" cy="822960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664" y="2121408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2430"/>
                </a:solidFill>
                <a:latin typeface="Noto Sans CJK SC"/>
              </a:rPr>
              <a:t>性质 / 场景</a:t>
            </a:r>
          </a:p>
        </p:txBody>
      </p:sp>
      <p:sp>
        <p:nvSpPr>
          <p:cNvPr id="17" name="Chevron 16"/>
          <p:cNvSpPr/>
          <p:nvPr/>
        </p:nvSpPr>
        <p:spPr>
          <a:xfrm>
            <a:off x="7214616" y="2112264"/>
            <a:ext cx="384048" cy="310896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0376" y="1874519"/>
            <a:ext cx="1828800" cy="822960"/>
          </a:xfrm>
          <a:prstGeom prst="roundRect">
            <a:avLst/>
          </a:prstGeom>
          <a:solidFill>
            <a:srgbClr val="F2E4DE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0376" y="2121408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2430"/>
                </a:solidFill>
                <a:latin typeface="Noto Sans CJK SC"/>
              </a:rPr>
              <a:t>验证</a:t>
            </a:r>
          </a:p>
        </p:txBody>
      </p:sp>
      <p:sp>
        <p:nvSpPr>
          <p:cNvPr id="20" name="Chevron 19"/>
          <p:cNvSpPr/>
          <p:nvPr/>
        </p:nvSpPr>
        <p:spPr>
          <a:xfrm>
            <a:off x="9482328" y="2112264"/>
            <a:ext cx="384048" cy="310896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48088" y="1874519"/>
            <a:ext cx="1828800" cy="822960"/>
          </a:xfrm>
          <a:prstGeom prst="roundRect">
            <a:avLst/>
          </a:prstGeom>
          <a:solidFill>
            <a:srgbClr val="E3EBDD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8088" y="2121408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2430"/>
                </a:solidFill>
                <a:latin typeface="Noto Sans CJK SC"/>
              </a:rPr>
              <a:t>修复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" y="3246120"/>
            <a:ext cx="2331720" cy="14630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87552" y="3246120"/>
            <a:ext cx="2331720" cy="10972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" y="3410712"/>
            <a:ext cx="20025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03354"/>
                </a:solidFill>
                <a:latin typeface="Noto Serif CJK SC"/>
              </a:rPr>
              <a:t>project_1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3822191"/>
            <a:ext cx="20025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目标对象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baseline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样本与 `pyfcstm`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9584" y="3246120"/>
            <a:ext cx="2331720" cy="14630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29584" y="3246120"/>
            <a:ext cx="2331720" cy="109728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94176" y="3410712"/>
            <a:ext cx="20025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03354"/>
                </a:solidFill>
                <a:latin typeface="Noto Serif CJK SC"/>
              </a:rPr>
              <a:t>project_2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4176" y="3822191"/>
            <a:ext cx="20025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性质与场景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生成接口层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71616" y="3246120"/>
            <a:ext cx="2331720" cy="14630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071616" y="3246120"/>
            <a:ext cx="2331720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7" y="3410712"/>
            <a:ext cx="20025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03354"/>
                </a:solidFill>
                <a:latin typeface="Noto Serif CJK SC"/>
              </a:rPr>
              <a:t>project_3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7" y="3822191"/>
            <a:ext cx="20025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profile-based verification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timed backend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13648" y="3246120"/>
            <a:ext cx="2331720" cy="14630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13648" y="3246120"/>
            <a:ext cx="2331720" cy="109728"/>
          </a:xfrm>
          <a:prstGeom prst="roundRect">
            <a:avLst/>
          </a:prstGeom>
          <a:solidFill>
            <a:srgbClr val="73876C"/>
          </a:solidFill>
          <a:ln w="12700">
            <a:solidFill>
              <a:srgbClr val="738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3410712"/>
            <a:ext cx="20025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03354"/>
                </a:solidFill>
                <a:latin typeface="Noto Serif CJK SC"/>
              </a:rPr>
              <a:t>project_4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822191"/>
            <a:ext cx="20025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缺陷驱动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iterative repair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074920"/>
            <a:ext cx="10789920" cy="804672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77240" y="5074920"/>
            <a:ext cx="10789920" cy="9144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" y="5202936"/>
            <a:ext cx="10497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当前判断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" y="5422392"/>
            <a:ext cx="10497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博士主线仍然是生成-验证-修复闭环；只是本学期要先把建模对象与目标形式主义打稳，后续几项才有共同基座。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[1][2]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05/20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project_1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project_1 的说服力来自三条文库线加上一条基础设施线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不是平行摆设，而是共同回答“该建什么、凭什么、如何落地”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1600200"/>
            <a:ext cx="2331720" cy="1325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" y="1600200"/>
            <a:ext cx="233172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764792"/>
            <a:ext cx="20025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03354"/>
                </a:solidFill>
                <a:latin typeface="Noto Serif CJK SC"/>
              </a:rPr>
              <a:t>`baselines/`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76272"/>
            <a:ext cx="2002536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62 篇比较集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回答“该和谁比”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600200"/>
            <a:ext cx="2331720" cy="1325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6840" y="1600200"/>
            <a:ext cx="2331720" cy="10972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71432" y="1764792"/>
            <a:ext cx="20025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03354"/>
                </a:solidFill>
                <a:latin typeface="Noto Serif CJK SC"/>
              </a:rPr>
              <a:t>`sources/`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1432" y="2176272"/>
            <a:ext cx="2002536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787 篇 / 746 条正例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回答“数据从哪里来”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657600"/>
            <a:ext cx="2331720" cy="1325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" y="3657600"/>
            <a:ext cx="2331720" cy="109728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22191"/>
            <a:ext cx="20025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`state_machine_types/`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233672"/>
            <a:ext cx="2002536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669 + 10 条目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回答“到底选哪类状态机”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3657600"/>
            <a:ext cx="2331720" cy="1325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06840" y="3657600"/>
            <a:ext cx="2331720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1432" y="3822191"/>
            <a:ext cx="20025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03354"/>
                </a:solidFill>
                <a:latin typeface="Noto Serif CJK SC"/>
              </a:rPr>
              <a:t>`pyfcstm`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4233672"/>
            <a:ext cx="2002536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executable IR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回答“如何落地并形成闭环”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94760" y="2331720"/>
            <a:ext cx="4617720" cy="196596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60520" y="2633472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D8C4A3"/>
                </a:solidFill>
                <a:latin typeface="Noto Sans CJK SC"/>
              </a:rPr>
              <a:t>中央结论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80" y="2971800"/>
            <a:ext cx="40690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Noto Serif CJK SC"/>
              </a:rPr>
              <a:t>三条文库线共同把论文对象</a:t>
            </a:r>
          </a:p>
          <a:p>
            <a:pPr algn="ctr"/>
            <a:r>
              <a:rPr sz="1900" b="1">
                <a:solidFill>
                  <a:srgbClr val="FFFFFF"/>
                </a:solidFill>
                <a:latin typeface="Noto Serif CJK SC"/>
              </a:rPr>
              <a:t>压向 control-state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9080" y="3703320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Noto Sans CJK SC"/>
              </a:rPr>
              <a:t>而 `pyfcstm` 则把这个对象变成可执行、可反馈、可持续迭代的模型空间。</a:t>
            </a:r>
          </a:p>
        </p:txBody>
      </p:sp>
      <p:sp>
        <p:nvSpPr>
          <p:cNvPr id="29" name="Chevron 28"/>
          <p:cNvSpPr/>
          <p:nvPr/>
        </p:nvSpPr>
        <p:spPr>
          <a:xfrm>
            <a:off x="3246120" y="2468880"/>
            <a:ext cx="411480" cy="292608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eft Arrow 29"/>
          <p:cNvSpPr/>
          <p:nvPr/>
        </p:nvSpPr>
        <p:spPr>
          <a:xfrm>
            <a:off x="8010144" y="2468880"/>
            <a:ext cx="411480" cy="292608"/>
          </a:xfrm>
          <a:prstGeom prst="leftArrow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3246120" y="4160520"/>
            <a:ext cx="411480" cy="292608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eft Arrow 31"/>
          <p:cNvSpPr/>
          <p:nvPr/>
        </p:nvSpPr>
        <p:spPr>
          <a:xfrm>
            <a:off x="8010144" y="4160520"/>
            <a:ext cx="411480" cy="292608"/>
          </a:xfrm>
          <a:prstGeom prst="leftArrow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[2][3][4][5][7]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06/20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文库证据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`baselines/` 解决的是“该和谁比，以及差距究竟在哪里”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这不是领域均匀采样，而是围绕 project_1 可比性刻意筛出的比较集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389888"/>
            <a:ext cx="1828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03354"/>
                </a:solidFill>
                <a:latin typeface="Noto Sans CJK SC"/>
              </a:rPr>
              <a:t>状态分布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700784"/>
            <a:ext cx="2240280" cy="10972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700784"/>
            <a:ext cx="128016" cy="109728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865376"/>
            <a:ext cx="1828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203354"/>
                </a:solidFill>
                <a:latin typeface="Noto Serif CJK SC"/>
              </a:rPr>
              <a:t>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2340864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CJK SC"/>
              </a:rPr>
              <a:t>baseline 条目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2596896"/>
            <a:ext cx="1828800" cy="731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8707E"/>
                </a:solidFill>
                <a:latin typeface="Noto Sans CJK SC"/>
              </a:rPr>
              <a:t>直接比较对象已经够用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063240"/>
            <a:ext cx="4846320" cy="7772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2688" y="3319272"/>
            <a:ext cx="1022063" cy="237744"/>
          </a:xfrm>
          <a:prstGeom prst="rect">
            <a:avLst/>
          </a:prstGeom>
          <a:solidFill>
            <a:srgbClr val="3F8F6B"/>
          </a:solidFill>
          <a:ln w="12700">
            <a:solidFill>
              <a:srgbClr val="3F8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483864"/>
            <a:ext cx="1022063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</a:rPr>
              <a:t>🟢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</a:rPr>
              <a:t>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54751" y="3319272"/>
            <a:ext cx="1387085" cy="237744"/>
          </a:xfrm>
          <a:prstGeom prst="rect">
            <a:avLst/>
          </a:prstGeom>
          <a:solidFill>
            <a:srgbClr val="D3A72A"/>
          </a:solidFill>
          <a:ln w="12700">
            <a:solidFill>
              <a:srgbClr val="D3A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54751" y="3483864"/>
            <a:ext cx="1387085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F2430"/>
                </a:solidFill>
                <a:latin typeface="Noto Sans CJK SC"/>
              </a:rPr>
              <a:t>🟡</a:t>
            </a:r>
          </a:p>
          <a:p>
            <a:pPr algn="ctr"/>
            <a:r>
              <a:rPr sz="1200" b="1">
                <a:solidFill>
                  <a:srgbClr val="1F2430"/>
                </a:solidFill>
                <a:latin typeface="Noto Sans CJK SC"/>
              </a:rPr>
              <a:t>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1837" y="3319272"/>
            <a:ext cx="2117130" cy="237744"/>
          </a:xfrm>
          <a:prstGeom prst="rect">
            <a:avLst/>
          </a:prstGeom>
          <a:solidFill>
            <a:srgbClr val="C96B2C"/>
          </a:solidFill>
          <a:ln w="12700">
            <a:solidFill>
              <a:srgbClr val="C96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41837" y="3483864"/>
            <a:ext cx="2117130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</a:rPr>
              <a:t>🟠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</a:rPr>
              <a:t>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730752"/>
            <a:ext cx="4572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8707E"/>
                </a:solidFill>
                <a:latin typeface="Noto Sans CJK SC"/>
              </a:rPr>
              <a:t>绿色条目不多，但它们正是明天汇报该重点讲的几篇。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1627632"/>
            <a:ext cx="5257800" cy="105156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897880" y="1627632"/>
            <a:ext cx="525780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62472" y="1792224"/>
            <a:ext cx="49286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direct baseline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2472" y="2203704"/>
            <a:ext cx="4928616" cy="320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正面回答“自由文本 -&gt; 状态机”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97880" y="2880360"/>
            <a:ext cx="5257800" cy="105156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97880" y="2880360"/>
            <a:ext cx="5257800" cy="10972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62472" y="3044952"/>
            <a:ext cx="49286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邻近任务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62472" y="3456432"/>
            <a:ext cx="4928616" cy="320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需求 -&gt; 行为模型 / model checking 修复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97880" y="4133088"/>
            <a:ext cx="5257800" cy="105156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897880" y="4133088"/>
            <a:ext cx="5257800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62472" y="4297680"/>
            <a:ext cx="49286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方法启发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62472" y="4709160"/>
            <a:ext cx="4928616" cy="320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workflow、反馈闭环、工具链集成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97880" y="5440680"/>
            <a:ext cx="5257800" cy="502920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97880" y="5440680"/>
            <a:ext cx="5257800" cy="80467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44184" y="5557723"/>
            <a:ext cx="4965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354"/>
                </a:solidFill>
                <a:latin typeface="Noto Serif CJK SC"/>
              </a:rPr>
              <a:t>页面结论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44184" y="5777179"/>
            <a:ext cx="4965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30" b="0">
                <a:solidFill>
                  <a:srgbClr val="1F2430"/>
                </a:solidFill>
                <a:latin typeface="Noto Sans CJK SC"/>
              </a:rPr>
              <a:t>baseline 文库已经够厚，关键是挑最硬的绿色条目来支撑主张。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[3]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07/20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文库证据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baseline 的共同趋势不是更花的 prompt，而是更强的工具反馈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几篇最值得讲的绿色条目给出的实证指向相当一致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261872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203354"/>
                </a:solidFill>
                <a:latin typeface="Noto Sans CJK SC"/>
              </a:rPr>
              <a:t>2026 direct baseline F1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481328"/>
          <a:ext cx="34290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343400" y="1261872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203354"/>
                </a:solidFill>
                <a:latin typeface="Noto Sans CJK SC"/>
              </a:rPr>
              <a:t>SysML empirical study 修复率 (%)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343400" y="1481328"/>
          <a:ext cx="3429000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01000" y="1463040"/>
            <a:ext cx="3401568" cy="141732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01000" y="1463040"/>
            <a:ext cx="3401568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1627632"/>
            <a:ext cx="3072384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TTool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2039112"/>
            <a:ext cx="30723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状态机评分 63 vs 58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速度快 15.2x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块图评分 81 vs 70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速度快 67.5x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063240"/>
            <a:ext cx="3401568" cy="141732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01000" y="3063240"/>
            <a:ext cx="3401568" cy="109728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3227832"/>
            <a:ext cx="3072384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IEC 61499 / workflow principles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3639312"/>
            <a:ext cx="30723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一旦接上仿真、代码生成和 sanity checks，方法论就不再是一次 prompt。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4846320"/>
            <a:ext cx="10698480" cy="822960"/>
          </a:xfrm>
          <a:prstGeom prst="roundRect">
            <a:avLst/>
          </a:prstGeom>
          <a:solidFill>
            <a:srgbClr val="F2E4DE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9808" y="4846320"/>
            <a:ext cx="10698480" cy="9144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974336"/>
            <a:ext cx="104058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Take-home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193792"/>
            <a:ext cx="104058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30" b="0">
                <a:solidFill>
                  <a:srgbClr val="1F2430"/>
                </a:solidFill>
                <a:latin typeface="Noto Sans CJK SC"/>
              </a:rPr>
              <a:t>纯 prompt 可以给出骨架，但真正把质量拉上去的，是 model checking、仿真、编译检查和 workflow feedback。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[12][13][14][16][17]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08/20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文库证据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`sources/` 不是自然分布样本，而是面向数据集建设的治理后主集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如果不先说明这一点，后面的统计就很容易被误读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170432"/>
            <a:ext cx="10698480" cy="38404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1234440"/>
            <a:ext cx="640080" cy="256031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261872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前因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1" y="1261872"/>
            <a:ext cx="4493361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如果不先讲治理口径，后面所有 EFSM/HSM/T0/T1 的比例都会被误读成自然分布。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26987" y="1234440"/>
            <a:ext cx="640080" cy="256031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6987" y="1261872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430"/>
                </a:solidFill>
                <a:latin typeface="Noto Sans CJK SC"/>
              </a:rPr>
              <a:t>因此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6795" y="1261872"/>
            <a:ext cx="3637483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所以这一页先解释筛选逻辑，再看统计。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1664208"/>
            <a:ext cx="10698480" cy="804672"/>
          </a:xfrm>
          <a:prstGeom prst="roundRect">
            <a:avLst/>
          </a:prstGeom>
          <a:solidFill>
            <a:srgbClr val="F2E4DE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1664208"/>
            <a:ext cx="10698480" cy="91440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1792224"/>
            <a:ext cx="104058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Warning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2011680"/>
            <a:ext cx="10405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80" b="0">
                <a:solidFill>
                  <a:srgbClr val="1F2430"/>
                </a:solidFill>
                <a:latin typeface="Noto Sans CJK SC"/>
              </a:rPr>
              <a:t>后面所有 EFSM / HSM / T0 / T1 的比例，首先反映的是收录策略与数据集治理目标，其次才是领域文献现象本身。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2542032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203354"/>
                </a:solidFill>
                <a:latin typeface="Noto Sans CJK SC"/>
              </a:rPr>
              <a:t>治理流程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" y="2761488"/>
            <a:ext cx="2560320" cy="877824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86384" y="2761488"/>
            <a:ext cx="2560320" cy="9144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2889504"/>
            <a:ext cx="22677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广撒网检索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108960"/>
            <a:ext cx="226771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10" b="0">
                <a:solidFill>
                  <a:srgbClr val="1F2430"/>
                </a:solidFill>
                <a:latin typeface="Noto Sans CJK SC"/>
              </a:rPr>
              <a:t>先把真实控制系统状态逻辑的文献面铺开。</a:t>
            </a:r>
          </a:p>
        </p:txBody>
      </p:sp>
      <p:sp>
        <p:nvSpPr>
          <p:cNvPr id="25" name="Chevron 24"/>
          <p:cNvSpPr/>
          <p:nvPr/>
        </p:nvSpPr>
        <p:spPr>
          <a:xfrm>
            <a:off x="3474720" y="3035808"/>
            <a:ext cx="384048" cy="310896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13632" y="2761488"/>
            <a:ext cx="2560320" cy="877824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913632" y="2761488"/>
            <a:ext cx="2560320" cy="91440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9936" y="2889504"/>
            <a:ext cx="22677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标准化治理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59936" y="3108960"/>
            <a:ext cx="226771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10" b="0">
                <a:solidFill>
                  <a:srgbClr val="1F2430"/>
                </a:solidFill>
                <a:latin typeface="Noto Sans CJK SC"/>
              </a:rPr>
              <a:t>按论文级、案例级、主类型、时间级别等口径做筛。</a:t>
            </a:r>
          </a:p>
        </p:txBody>
      </p:sp>
      <p:sp>
        <p:nvSpPr>
          <p:cNvPr id="30" name="Chevron 29"/>
          <p:cNvSpPr/>
          <p:nvPr/>
        </p:nvSpPr>
        <p:spPr>
          <a:xfrm>
            <a:off x="6601968" y="3035808"/>
            <a:ext cx="384048" cy="310896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40880" y="2761488"/>
            <a:ext cx="2834640" cy="877824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040880" y="2761488"/>
            <a:ext cx="2834640" cy="91440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87184" y="2889504"/>
            <a:ext cx="25420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主集保留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7184" y="3108960"/>
            <a:ext cx="25420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10" b="0">
                <a:solidFill>
                  <a:srgbClr val="1F2430"/>
                </a:solidFill>
                <a:latin typeface="Noto Sans CJK SC"/>
              </a:rPr>
              <a:t>优先保留 EFSM/HSM、T0/T1、细节高、不强趋同的案例。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657600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203354"/>
                </a:solidFill>
                <a:latin typeface="Noto Sans CJK SC"/>
              </a:rPr>
              <a:t>五套治理口径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858768" y="3886200"/>
          <a:ext cx="75895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760720"/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Noto Sans CJK SC"/>
                        </a:rPr>
                        <a:t>口径</a:t>
                      </a:r>
                    </a:p>
                  </a:txBody>
                  <a:tcPr anchor="ctr" marL="76200" marR="76200" marT="50800" marB="50800">
                    <a:solidFill>
                      <a:srgbClr val="1D6F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Noto Sans CJK SC"/>
                        </a:rPr>
                        <a:t>作用</a:t>
                      </a:r>
                    </a:p>
                  </a:txBody>
                  <a:tcPr anchor="ctr" marL="76200" marR="76200" marT="50800" marB="50800">
                    <a:solidFill>
                      <a:srgbClr val="1D6F7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论文级可用性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判断单篇论文整体上能否形成可靠样本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案例级角色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区分核心保留、清洗后保留、降采样保留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细节充实度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判断是否足以支撑高质量建模与评测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主类型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回答“默认应把它理解成哪类状态机”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时间级别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回答时间语义到底只是局部 timer 还是强实时/连续耦合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786384" y="3886200"/>
            <a:ext cx="2743200" cy="17830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6384" y="3886200"/>
            <a:ext cx="274320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0976" y="4050791"/>
            <a:ext cx="24140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治理目标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" y="4462272"/>
            <a:ext cx="24140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优先保留 `EFSM/HSM`。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优先保留 `T0/T1`。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优先保留细节充实、可转为可执行样本的案例。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对强趋同簇做降采样控制。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[4][6]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09/20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文库证据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`sources/` 的总体统计已经足以支撑数据集和问题边界判断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统计项必须带定义列，否则数字没有解释力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1133856"/>
            <a:ext cx="10735056" cy="38404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50976" y="1197864"/>
            <a:ext cx="640080" cy="256031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225296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前因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5" y="1225296"/>
            <a:ext cx="4508723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样本主链已经够厚，不再是“先去找样本”的阶段。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602" y="1197864"/>
            <a:ext cx="640080" cy="256031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602" y="1225296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430"/>
                </a:solidFill>
                <a:latin typeface="Noto Sans CJK SC"/>
              </a:rPr>
              <a:t>因此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1410" y="1225296"/>
            <a:ext cx="364991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所以这页要把数量和定义一起说清楚。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1664208"/>
            <a:ext cx="2615184" cy="96012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1664208"/>
            <a:ext cx="128016" cy="96012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1828800"/>
            <a:ext cx="2203703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203354"/>
                </a:solidFill>
                <a:latin typeface="Noto Serif CJK SC"/>
              </a:rPr>
              <a:t>787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2304288"/>
            <a:ext cx="2203703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CJK SC"/>
              </a:rPr>
              <a:t>论文总数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2560320"/>
            <a:ext cx="2203703" cy="-64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8707E"/>
                </a:solidFill>
                <a:latin typeface="Noto Sans CJK SC"/>
              </a:rPr>
              <a:t>正式入账论文目录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0" y="1664208"/>
            <a:ext cx="2615184" cy="96012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74720" y="1664208"/>
            <a:ext cx="128016" cy="960120"/>
          </a:xfrm>
          <a:prstGeom prst="roundRect">
            <a:avLst/>
          </a:prstGeom>
          <a:solidFill>
            <a:srgbClr val="3F8F6B"/>
          </a:solidFill>
          <a:ln w="12700">
            <a:solidFill>
              <a:srgbClr val="3F8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0752" y="1828800"/>
            <a:ext cx="2203703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3F8F6B"/>
                </a:solidFill>
                <a:latin typeface="Noto Serif CJK SC"/>
              </a:rPr>
              <a:t>715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30752" y="2304288"/>
            <a:ext cx="2203703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CJK SC"/>
              </a:rPr>
              <a:t>论文级 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30752" y="2560320"/>
            <a:ext cx="2203703" cy="-64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8707E"/>
                </a:solidFill>
                <a:latin typeface="Noto Sans CJK SC"/>
              </a:rPr>
              <a:t>可直接支撑可靠样本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1664208"/>
            <a:ext cx="2615184" cy="96012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6208" y="1664208"/>
            <a:ext cx="128016" cy="960120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828800"/>
            <a:ext cx="2203703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D6F73"/>
                </a:solidFill>
                <a:latin typeface="Noto Serif CJK SC"/>
              </a:rPr>
              <a:t>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304288"/>
            <a:ext cx="2203703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CJK SC"/>
              </a:rPr>
              <a:t>正例案例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560320"/>
            <a:ext cx="2203703" cy="-64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8707E"/>
                </a:solidFill>
                <a:latin typeface="Noto Sans CJK SC"/>
              </a:rPr>
              <a:t>当前样本主链总量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7696" y="1664208"/>
            <a:ext cx="2615184" cy="96012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97696" y="1664208"/>
            <a:ext cx="128016" cy="960120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53728" y="1828800"/>
            <a:ext cx="2203703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C8912C"/>
                </a:solidFill>
                <a:latin typeface="Noto Serif CJK SC"/>
              </a:rPr>
              <a:t>685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304288"/>
            <a:ext cx="2203703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CJK SC"/>
              </a:rPr>
              <a:t>核心保留 `💎`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2560320"/>
            <a:ext cx="2203703" cy="-64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8707E"/>
                </a:solidFill>
                <a:latin typeface="Noto Sans CJK SC"/>
              </a:rPr>
              <a:t>主数据集主链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731520" y="2816352"/>
          <a:ext cx="54864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520440"/>
                <a:gridCol w="8229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Noto Sans CJK SC"/>
                        </a:rPr>
                        <a:t>指标</a:t>
                      </a:r>
                    </a:p>
                  </a:txBody>
                  <a:tcPr anchor="ctr" marL="76200" marR="76200" marT="50800" marB="50800">
                    <a:solidFill>
                      <a:srgbClr val="2033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Noto Sans CJK SC"/>
                        </a:rPr>
                        <a:t>定义</a:t>
                      </a:r>
                    </a:p>
                  </a:txBody>
                  <a:tcPr anchor="ctr" marL="76200" marR="76200" marT="50800" marB="50800">
                    <a:solidFill>
                      <a:srgbClr val="2033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Noto Sans CJK SC"/>
                        </a:rPr>
                        <a:t>数量</a:t>
                      </a:r>
                    </a:p>
                  </a:txBody>
                  <a:tcPr anchor="ctr" marL="76200" marR="76200" marT="50800" marB="50800">
                    <a:solidFill>
                      <a:srgbClr val="20335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论文总数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当前 `sources/` 已正式入账的论文目录总数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787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论文级 `🟢`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单篇论文整体上可直接支持可靠样本抽取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715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论文级 `🟡`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单篇论文仍有价值，但需要额外整理或局部补证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16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论文级 `⚪`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单篇论文最终未形成可靠样本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56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355080" y="2816352"/>
          <a:ext cx="51206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063240"/>
                <a:gridCol w="8229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Noto Sans CJK SC"/>
                        </a:rPr>
                        <a:t>类别</a:t>
                      </a:r>
                    </a:p>
                  </a:txBody>
                  <a:tcPr anchor="ctr" marL="76200" marR="76200" marT="50800" marB="50800">
                    <a:solidFill>
                      <a:srgbClr val="1D6F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Noto Sans CJK SC"/>
                        </a:rPr>
                        <a:t>定义</a:t>
                      </a:r>
                    </a:p>
                  </a:txBody>
                  <a:tcPr anchor="ctr" marL="76200" marR="76200" marT="50800" marB="50800">
                    <a:solidFill>
                      <a:srgbClr val="1D6F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Noto Sans CJK SC"/>
                        </a:rPr>
                        <a:t>数量</a:t>
                      </a:r>
                    </a:p>
                  </a:txBody>
                  <a:tcPr anchor="ctr" marL="76200" marR="76200" marT="50800" marB="50800">
                    <a:solidFill>
                      <a:srgbClr val="1D6F7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正例案例总数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正式入账、可作为控制状态样本讨论的案例条目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746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`💎` 核心保留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细节和分布都足够好，适合进入主数据集主链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685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`🧰` 清洗后保留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有价值，但需要进一步清洗、补证或统一口径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20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`🪫` 降采样保留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本身可用，但因分布控制原因不应过量进入主集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430"/>
                          </a:solidFill>
                          <a:latin typeface="Noto Sans CJK SC"/>
                        </a:rPr>
                        <a:t>41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</a:tbl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749808" y="5486400"/>
            <a:ext cx="10698480" cy="502920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49808" y="5486400"/>
            <a:ext cx="10698480" cy="80467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" y="5603443"/>
            <a:ext cx="104058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354"/>
                </a:solidFill>
                <a:latin typeface="Noto Serif CJK SC"/>
              </a:rPr>
              <a:t>Take-home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" y="5822899"/>
            <a:ext cx="10405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60" b="0">
                <a:solidFill>
                  <a:srgbClr val="1F2430"/>
                </a:solidFill>
                <a:latin typeface="Noto Sans CJK SC"/>
              </a:rPr>
              <a:t>主链样本已经够厚；现在真正该做的是围绕它定义论文对象、baseline 口径和可执行实验。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[4][6]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文库证据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主类型分布说明真实样本主链是 `FSM / EFSM / HSM`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713 / 746 条正例都落在离散控制状态层附近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115568"/>
            <a:ext cx="10625328" cy="38404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179576"/>
            <a:ext cx="640080" cy="256031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07008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前因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19" y="1207008"/>
            <a:ext cx="4462637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主类型分布不只是数字，它直接决定论文对象该落在哪条主链上。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05773" y="1179576"/>
            <a:ext cx="640080" cy="256031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5773" y="1207008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430"/>
                </a:solidFill>
                <a:latin typeface="Noto Sans CJK SC"/>
              </a:rPr>
              <a:t>因此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5581" y="1207008"/>
            <a:ext cx="3612611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所以这页要读成“control-state 占绝对主体”。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777240" y="1627632"/>
          <a:ext cx="475488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806440" y="1645920"/>
          <a:ext cx="5596128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4270248"/>
              </a:tblGrid>
              <a:tr h="385354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Noto Sans CJK SC"/>
                        </a:rPr>
                        <a:t>主类型</a:t>
                      </a:r>
                    </a:p>
                  </a:txBody>
                  <a:tcPr anchor="ctr" marL="76200" marR="76200" marT="50800" marB="50800">
                    <a:solidFill>
                      <a:srgbClr val="1D6F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Noto Sans CJK SC"/>
                        </a:rPr>
                        <a:t>定义</a:t>
                      </a:r>
                    </a:p>
                  </a:txBody>
                  <a:tcPr anchor="ctr" marL="76200" marR="76200" marT="50800" marB="50800">
                    <a:solidFill>
                      <a:srgbClr val="1D6F73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FSM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普通离散阶段机，少量条件并入状态也不会明显失真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EFSM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离散状态仍是主体，但关键语义依赖 guard / effect 数据面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HSM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高层模式和低层子状态关系本身就是主要结构事实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Protocol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多角色请求、授权、接管等交互顺序是核心语义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Resource-flow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正确性主要由资源占用、互斥、释放关系决定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Hybrid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连续动力学或连续控制律是语义不可删的一部分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833872" y="4526280"/>
            <a:ext cx="5559552" cy="822960"/>
          </a:xfrm>
          <a:prstGeom prst="roundRect">
            <a:avLst/>
          </a:prstGeom>
          <a:solidFill>
            <a:srgbClr val="DCEDEA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833872" y="4526280"/>
            <a:ext cx="5559552" cy="9144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4654296"/>
            <a:ext cx="52669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关键比例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4873752"/>
            <a:ext cx="52669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713 / 746 = 95.6% 的主集正例都落在 `FSM + EFSM + HSM` 这条离散控制状态主链上。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[4]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文库证据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时间级别与结构标签说明“离散控制”不等于“扁平简单 FSM”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T0/T1 占主导，但显式时钟与层次结构都不是小噪声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115568"/>
            <a:ext cx="10643616" cy="38404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1179576"/>
            <a:ext cx="640080" cy="256031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207008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前因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1" y="1207008"/>
            <a:ext cx="447031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离散主链并不意味着“模型可以极简化”。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7360" y="1179576"/>
            <a:ext cx="640080" cy="256031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7360" y="1207008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430"/>
                </a:solidFill>
                <a:latin typeface="Noto Sans CJK SC"/>
              </a:rPr>
              <a:t>因此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47168" y="1207008"/>
            <a:ext cx="361882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所以 timer、显式时钟和 hierarchy 都必须被保留下来。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5727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203354"/>
                </a:solidFill>
                <a:latin typeface="Noto Sans CJK SC"/>
              </a:rPr>
              <a:t>时间级别分布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49808" y="1828800"/>
          <a:ext cx="45720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715000" y="15727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203354"/>
                </a:solidFill>
                <a:latin typeface="Noto Sans CJK SC"/>
              </a:rPr>
              <a:t>结构标签覆盖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715000" y="1828800"/>
          <a:ext cx="544068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68096" y="4709160"/>
            <a:ext cx="4709160" cy="80467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8096" y="4709160"/>
            <a:ext cx="4709160" cy="9144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37176"/>
            <a:ext cx="441655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结论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56632"/>
            <a:ext cx="4416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40" b="0">
                <a:solidFill>
                  <a:srgbClr val="1F2430"/>
                </a:solidFill>
                <a:latin typeface="Noto Sans CJK SC"/>
              </a:rPr>
              <a:t>`T0 + T1 = 719 / 746`，短期最稳的对象仍是离散控制 + 局部工程定时。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5000" y="4709160"/>
            <a:ext cx="5440680" cy="80467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715000" y="4709160"/>
            <a:ext cx="5440680" cy="91440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1304" y="4837176"/>
            <a:ext cx="51480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结论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1304" y="5056632"/>
            <a:ext cx="51480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40" b="0">
                <a:solidFill>
                  <a:srgbClr val="1F2430"/>
                </a:solidFill>
                <a:latin typeface="Noto Sans CJK SC"/>
              </a:rPr>
              <a:t>显式时钟与层次结构必须保留，所以目标形式主义不能退回最平的 FSM。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[4][6]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文库证据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代表样本显示：真实控制系统里至少并存五类不同建模难点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同样都叫“状态机”，但它们的主难点并不相同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115568"/>
            <a:ext cx="10652760" cy="566928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115568"/>
            <a:ext cx="10652760" cy="9070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242852"/>
            <a:ext cx="1036015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03354"/>
                </a:solidFill>
                <a:latin typeface="Noto Serif CJK SC"/>
              </a:rPr>
              <a:t>Framing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1462308"/>
            <a:ext cx="10360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40" b="0">
                <a:solidFill>
                  <a:srgbClr val="1F2430"/>
                </a:solidFill>
                <a:latin typeface="Noto Sans CJK SC"/>
              </a:rPr>
              <a:t>这些样本不是用来“凑例子”，而是用来证明“状态机”一词背后其实罩着不同问题，因此论文对象必须主动收束。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49808" y="1847088"/>
          <a:ext cx="10652760" cy="3767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3154680"/>
                <a:gridCol w="4663440"/>
              </a:tblGrid>
              <a:tr h="6278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SC"/>
                        </a:rPr>
                        <a:t>场景</a:t>
                      </a:r>
                    </a:p>
                  </a:txBody>
                  <a:tcPr anchor="ctr" marL="76200" marR="76200" marT="50800" marB="50800">
                    <a:solidFill>
                      <a:srgbClr val="2033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SC"/>
                        </a:rPr>
                        <a:t>标签</a:t>
                      </a:r>
                    </a:p>
                  </a:txBody>
                  <a:tcPr anchor="ctr" marL="76200" marR="76200" marT="50800" marB="50800">
                    <a:solidFill>
                      <a:srgbClr val="2033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SC"/>
                        </a:rPr>
                        <a:t>关键建模难点</a:t>
                      </a:r>
                    </a:p>
                  </a:txBody>
                  <a:tcPr anchor="ctr" marL="76200" marR="76200" marT="50800" marB="50800">
                    <a:solidFill>
                      <a:srgbClr val="2033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SC"/>
                        </a:rPr>
                        <a:t>对论文对象的启发</a:t>
                      </a:r>
                    </a:p>
                  </a:txBody>
                  <a:tcPr anchor="ctr" marL="76200" marR="76200" marT="50800" marB="50800">
                    <a:solidFill>
                      <a:srgbClr val="203354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洗衣机 PLC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EFSM / T1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阶段链 + timer + guard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真实工业控制里“阶段 + timer”是高频对象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电梯 PLC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EFSM / T1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请求队列、方向优先、门控时长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顺序控制与门控规则构成主问题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铁路联锁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Resource / T1-T2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资源互斥、锁闭、释放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有些“状态机”本质上更像强 guard / 资源系统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UAV 分层任务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HSM / T0-T1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mission supervisor + 子层任务控制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层次任务控制是另一条高频主线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外骨骼步态控制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Hybrid / T3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连续相变量与模式切换强耦合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确实存在第二类连续/混成问题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473952" y="5321808"/>
            <a:ext cx="4901184" cy="713232"/>
          </a:xfrm>
          <a:prstGeom prst="roundRect">
            <a:avLst/>
          </a:prstGeom>
          <a:solidFill>
            <a:srgbClr val="F2E4DE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73952" y="5321808"/>
            <a:ext cx="4901184" cy="91440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5449824"/>
            <a:ext cx="460857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03354"/>
                </a:solidFill>
                <a:latin typeface="Noto Serif CJK SC"/>
              </a:rPr>
              <a:t>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5669280"/>
            <a:ext cx="46085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60" b="0">
                <a:solidFill>
                  <a:srgbClr val="1F2430"/>
                </a:solidFill>
                <a:latin typeface="Noto Sans CJK SC"/>
              </a:rPr>
              <a:t>离散顺序控制、层次任务、资源互锁、连续耦合至少是四类不同问题。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[4][6]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文库证据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`state_machine_types/` 证明“状态机”是一整个家族而不是单对象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问题不在于有没有状态机，而在于我们到底主动选择其中哪一支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115568"/>
            <a:ext cx="10625328" cy="38404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179576"/>
            <a:ext cx="640080" cy="256031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07008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前因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19" y="1207008"/>
            <a:ext cx="4462637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既然“状态机”本来就是家族，project_1 就不能假装目标对象天然唯一。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05773" y="1179576"/>
            <a:ext cx="640080" cy="256031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5773" y="1207008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430"/>
                </a:solidFill>
                <a:latin typeface="Noto Sans CJK SC"/>
              </a:rPr>
              <a:t>因此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5581" y="1207008"/>
            <a:ext cx="3612611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所以必须主动选 control-state + infrastructure 这条分支。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768096" y="1682496"/>
          <a:ext cx="4617720" cy="33649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806440" y="1700784"/>
            <a:ext cx="5486400" cy="331012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847088"/>
            <a:ext cx="1280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03354"/>
                </a:solidFill>
                <a:latin typeface="Noto Serif CJK SC"/>
              </a:rPr>
              <a:t>状态机家族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50592"/>
            <a:ext cx="1828800" cy="713232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2450592"/>
            <a:ext cx="1828800" cy="91440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4" y="2578608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03354"/>
                </a:solidFill>
                <a:latin typeface="Noto Serif CJK SC"/>
              </a:rPr>
              <a:t>control-state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798064"/>
            <a:ext cx="15361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60" b="0">
                <a:solidFill>
                  <a:srgbClr val="1F2430"/>
                </a:solidFill>
                <a:latin typeface="Noto Sans CJK SC"/>
              </a:rPr>
              <a:t>FSM / EFSM / HSM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6760" y="2450592"/>
            <a:ext cx="1828800" cy="713232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66760" y="2450592"/>
            <a:ext cx="1828800" cy="91440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13064" y="2578608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03354"/>
                </a:solidFill>
                <a:latin typeface="Noto Serif CJK SC"/>
              </a:rPr>
              <a:t>timed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2798064"/>
            <a:ext cx="15361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60" b="0">
                <a:solidFill>
                  <a:srgbClr val="1F2430"/>
                </a:solidFill>
                <a:latin typeface="Noto Sans CJK SC"/>
              </a:rPr>
              <a:t>TA / clocks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419856"/>
            <a:ext cx="1828800" cy="713232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72200" y="3419856"/>
            <a:ext cx="1828800" cy="91440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547872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03354"/>
                </a:solidFill>
                <a:latin typeface="Noto Serif CJK SC"/>
              </a:rPr>
              <a:t>hybrid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3767328"/>
            <a:ext cx="15361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60" b="0">
                <a:solidFill>
                  <a:srgbClr val="1F2430"/>
                </a:solidFill>
                <a:latin typeface="Noto Sans CJK SC"/>
              </a:rPr>
              <a:t>continuous coupling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66760" y="3419856"/>
            <a:ext cx="1828800" cy="713232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66760" y="3419856"/>
            <a:ext cx="1828800" cy="91440"/>
          </a:xfrm>
          <a:prstGeom prst="roundRect">
            <a:avLst/>
          </a:prstGeom>
          <a:solidFill>
            <a:srgbClr val="73876C"/>
          </a:solidFill>
          <a:ln w="12700">
            <a:solidFill>
              <a:srgbClr val="738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13064" y="3547872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03354"/>
                </a:solidFill>
                <a:latin typeface="Noto Serif CJK SC"/>
              </a:rPr>
              <a:t>resource / contract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13064" y="3767328"/>
            <a:ext cx="15361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60" b="0">
                <a:solidFill>
                  <a:srgbClr val="1F2430"/>
                </a:solidFill>
                <a:latin typeface="Noto Sans CJK SC"/>
              </a:rPr>
              <a:t>Petri / contract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0" y="4352544"/>
            <a:ext cx="2468880" cy="841248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315200" y="4352544"/>
            <a:ext cx="2468880" cy="9144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61504" y="4480559"/>
            <a:ext cx="21762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03354"/>
                </a:solidFill>
                <a:latin typeface="Noto Serif CJK SC"/>
              </a:rPr>
              <a:t>infrastructure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1504" y="4700016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80" b="0">
                <a:solidFill>
                  <a:srgbClr val="1F2430"/>
                </a:solidFill>
                <a:latin typeface="Noto Sans CJK SC"/>
              </a:rPr>
              <a:t>DSL / 标准 / 元模型 / 执行载体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68096" y="5047488"/>
            <a:ext cx="10625328" cy="804672"/>
          </a:xfrm>
          <a:prstGeom prst="roundRect">
            <a:avLst/>
          </a:prstGeom>
          <a:solidFill>
            <a:srgbClr val="DCEDEA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68096" y="5047488"/>
            <a:ext cx="10625328" cy="9144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175503"/>
            <a:ext cx="10332719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354"/>
                </a:solidFill>
                <a:latin typeface="Noto Serif CJK SC"/>
              </a:rPr>
              <a:t>因此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394959"/>
            <a:ext cx="103327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20" b="0">
                <a:solidFill>
                  <a:srgbClr val="1F2430"/>
                </a:solidFill>
                <a:latin typeface="Noto Sans CJK SC"/>
              </a:rPr>
              <a:t>对 project_1 来说，最自然的选择不是“任意状态机”，而是 control-state profile 加执行基础设施。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[5][7]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project_1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这篇论文更稳的对象应是控制系统的离散 control-state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离散监督 / 顺序控制 与 连续 / 混成控制 在建模视角上其实是两类问题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389888"/>
          <a:ext cx="1065276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572000"/>
                <a:gridCol w="4800600"/>
              </a:tblGrid>
              <a:tr h="708660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 anchor="ctr" marL="76200" marR="76200" marT="50800" marB="50800">
                    <a:solidFill>
                      <a:srgbClr val="2033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Noto Sans CJK SC"/>
                        </a:rPr>
                        <a:t>离散监督 / 顺序控制 / 模式管理</a:t>
                      </a:r>
                    </a:p>
                  </a:txBody>
                  <a:tcPr anchor="ctr" marL="76200" marR="76200" marT="50800" marB="50800">
                    <a:solidFill>
                      <a:srgbClr val="2033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Noto Sans CJK SC"/>
                        </a:rPr>
                        <a:t>连续 / 混成控制中的模式切换</a:t>
                      </a:r>
                    </a:p>
                  </a:txBody>
                  <a:tcPr anchor="ctr" marL="76200" marR="76200" marT="50800" marB="50800">
                    <a:solidFill>
                      <a:srgbClr val="203354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典型系统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PLC、电梯、铁路联锁、门控、任务控制、异常恢复链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ABS / BBW、外骨骼步态、强时序医疗控制、动力学模式切换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状态的主要含义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模式、阶段、权限、流程位置、故障恢复位置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控制律区间、相变量阶段、连续动力学运行区间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核心建模难点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guard、事件、互锁、局部 timer、异常链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时钟组合、连续变量、动力学耦合、hybrid semantics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更自然的模型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FSM / EFSM / HSM / control-state DSL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Timed / Hybrid 一类对象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更自然的反馈基础设施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parser、simulator、结构校验、可执行 trace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F2430"/>
                          </a:solidFill>
                          <a:latin typeface="Noto Sans CJK SC"/>
                        </a:rPr>
                        <a:t>timed/hybrid verification、数值仿真、symbolic reachability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9808" y="5715000"/>
            <a:ext cx="10652760" cy="384048"/>
          </a:xfrm>
          <a:prstGeom prst="roundRect">
            <a:avLst/>
          </a:prstGeom>
          <a:solidFill>
            <a:srgbClr val="DCEDEA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5715000"/>
            <a:ext cx="10652760" cy="61447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813023"/>
            <a:ext cx="1036015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03354"/>
                </a:solidFill>
                <a:latin typeface="Noto Serif CJK SC"/>
              </a:rPr>
              <a:t>论文对象建议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6032479"/>
            <a:ext cx="10360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1F2430"/>
                </a:solidFill>
                <a:latin typeface="Noto Sans CJK SC"/>
              </a:rPr>
              <a:t>project_1 第一篇论文先解左列问题；右列问题不否认其重要性，但放到后续延展更稳。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[4][5][6][7]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基础设施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`pyfcstm` 从 2 月底到现在已经具备可执行基础设施的骨架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它已经不是单文件 demo 级 DSL，而是在往工程可维护对象走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353312"/>
            <a:ext cx="2057400" cy="10058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353312"/>
            <a:ext cx="128016" cy="1005840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1517904"/>
            <a:ext cx="16459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A04B39"/>
                </a:solidFill>
                <a:latin typeface="Noto Serif CJK SC"/>
              </a:rPr>
              <a:t>dcf1f70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1993391"/>
            <a:ext cx="1645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CJK SC"/>
              </a:rPr>
              <a:t>main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2249424"/>
            <a:ext cx="1645920" cy="-18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8707E"/>
                </a:solidFill>
                <a:latin typeface="Noto Sans CJK SC"/>
              </a:rPr>
              <a:t>截至 2026-04-14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536192"/>
            <a:ext cx="8183879" cy="164592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F0E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63240" y="1536192"/>
            <a:ext cx="8183879" cy="164592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800" y="1810512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8707E"/>
                </a:solidFill>
                <a:latin typeface="Noto Sans Mono CJK SC"/>
              </a:rPr>
              <a:t>2026-02-28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1810512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>
                <a:solidFill>
                  <a:srgbClr val="68707E"/>
                </a:solidFill>
                <a:latin typeface="Noto Sans Mono CJK SC"/>
              </a:rPr>
              <a:t>2026-04-14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331720"/>
            <a:ext cx="2057400" cy="23774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2331720"/>
            <a:ext cx="205740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496312"/>
            <a:ext cx="17282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203354"/>
                </a:solidFill>
                <a:latin typeface="Noto Serif CJK SC"/>
              </a:rPr>
              <a:t>import / 模块化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2907791"/>
            <a:ext cx="1728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import 语法、模型组装、目录入口、editor support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71800" y="2331720"/>
            <a:ext cx="2057400" cy="23774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71800" y="2331720"/>
            <a:ext cx="2057400" cy="10972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36392" y="2496312"/>
            <a:ext cx="17282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203354"/>
                </a:solidFill>
                <a:latin typeface="Noto Serif CJK SC"/>
              </a:rPr>
              <a:t>执行语义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2907791"/>
            <a:ext cx="1728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`if` 语句、运行时递归执行、symbolic if-block execution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66360" y="2331720"/>
            <a:ext cx="2057400" cy="23774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66360" y="2331720"/>
            <a:ext cx="2057400" cy="109728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0952" y="2496312"/>
            <a:ext cx="17282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203354"/>
                </a:solidFill>
                <a:latin typeface="Noto Serif CJK SC"/>
              </a:rPr>
              <a:t>代码生成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0952" y="2907791"/>
            <a:ext cx="1728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Python / C 模板、`c_poll` 路线、template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2331720"/>
            <a:ext cx="2057400" cy="23774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60920" y="2331720"/>
            <a:ext cx="2057400" cy="109728"/>
          </a:xfrm>
          <a:prstGeom prst="roundRect">
            <a:avLst/>
          </a:prstGeom>
          <a:solidFill>
            <a:srgbClr val="73876C"/>
          </a:solidFill>
          <a:ln w="12700">
            <a:solidFill>
              <a:srgbClr val="738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2496312"/>
            <a:ext cx="17282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203354"/>
                </a:solidFill>
                <a:latin typeface="Noto Serif CJK SC"/>
              </a:rPr>
              <a:t>工具支持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2907791"/>
            <a:ext cx="1728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PlantUML 导出、文档、教程、VS Code 支持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55480" y="2331720"/>
            <a:ext cx="2057400" cy="23774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55480" y="2331720"/>
            <a:ext cx="2057400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20072" y="2496312"/>
            <a:ext cx="17282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203354"/>
                </a:solidFill>
                <a:latin typeface="Noto Serif CJK SC"/>
              </a:rPr>
              <a:t>验证预备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0072" y="2907791"/>
            <a:ext cx="1728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solver / verify groundwork、symbolic witness 方向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047488"/>
            <a:ext cx="10652760" cy="658368"/>
          </a:xfrm>
          <a:prstGeom prst="roundRect">
            <a:avLst/>
          </a:prstGeom>
          <a:solidFill>
            <a:srgbClr val="F2E4DE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77240" y="5047488"/>
            <a:ext cx="10652760" cy="91440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544" y="5175503"/>
            <a:ext cx="1036015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03354"/>
                </a:solidFill>
                <a:latin typeface="Noto Serif CJK SC"/>
              </a:rPr>
              <a:t>页面结论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" y="5394959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80" b="0">
                <a:solidFill>
                  <a:srgbClr val="1F2430"/>
                </a:solidFill>
                <a:latin typeface="Noto Sans CJK SC"/>
              </a:rPr>
              <a:t>`pyfcstm` 现在最值得强调的不是 feature 数量，而是它已经形成了一条从模型表达、执行、代码生成到后续验证接口的连续能力带。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[8]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基础设施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`pyfcstm` 在论文里应被写成目标形式主义与闭环基座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把“自然语言生成状态机”提升成“自然语言生成可执行形式模型”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6537960" cy="126187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2359152"/>
            <a:ext cx="1005840" cy="749808"/>
          </a:xfrm>
          <a:prstGeom prst="roundRect">
            <a:avLst/>
          </a:prstGeom>
          <a:solidFill>
            <a:srgbClr val="F0EBE2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2542032"/>
            <a:ext cx="10058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F2430"/>
                </a:solidFill>
                <a:latin typeface="Noto Sans CJK SC"/>
              </a:rPr>
              <a:t>需求文本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359152"/>
            <a:ext cx="1005840" cy="749808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542032"/>
            <a:ext cx="10058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F2430"/>
                </a:solidFill>
                <a:latin typeface="Noto Sans CJK SC"/>
              </a:rPr>
              <a:t>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359152"/>
            <a:ext cx="1417320" cy="749808"/>
          </a:xfrm>
          <a:prstGeom prst="roundRect">
            <a:avLst/>
          </a:prstGeom>
          <a:solidFill>
            <a:srgbClr val="DCEDEA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542032"/>
            <a:ext cx="1417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F2430"/>
                </a:solidFill>
                <a:latin typeface="Noto Sans CJK SC"/>
              </a:rPr>
              <a:t>`pyfcstm`</a:t>
            </a:r>
          </a:p>
          <a:p>
            <a:pPr algn="ctr"/>
            <a:r>
              <a:rPr sz="1050" b="1">
                <a:solidFill>
                  <a:srgbClr val="1F2430"/>
                </a:solidFill>
                <a:latin typeface="Noto Sans CJK SC"/>
              </a:rPr>
              <a:t>control-state DSL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2359152"/>
            <a:ext cx="1005840" cy="749808"/>
          </a:xfrm>
          <a:prstGeom prst="roundRect">
            <a:avLst/>
          </a:prstGeom>
          <a:solidFill>
            <a:srgbClr val="DDE9EE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2542032"/>
            <a:ext cx="10058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F2430"/>
                </a:solidFill>
                <a:latin typeface="Noto Sans CJK SC"/>
              </a:rPr>
              <a:t>parser /</a:t>
            </a:r>
          </a:p>
          <a:p>
            <a:pPr algn="ctr"/>
            <a:r>
              <a:rPr sz="1050" b="1">
                <a:solidFill>
                  <a:srgbClr val="1F2430"/>
                </a:solidFill>
                <a:latin typeface="Noto Sans CJK SC"/>
              </a:rPr>
              <a:t>runtime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2359152"/>
            <a:ext cx="1005840" cy="749808"/>
          </a:xfrm>
          <a:prstGeom prst="roundRect">
            <a:avLst/>
          </a:prstGeom>
          <a:solidFill>
            <a:srgbClr val="F2E4DE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542032"/>
            <a:ext cx="10058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F2430"/>
                </a:solidFill>
                <a:latin typeface="Noto Sans CJK SC"/>
              </a:rPr>
              <a:t>simulation /</a:t>
            </a:r>
          </a:p>
          <a:p>
            <a:pPr algn="ctr"/>
            <a:r>
              <a:rPr sz="1050" b="1">
                <a:solidFill>
                  <a:srgbClr val="1F2430"/>
                </a:solidFill>
                <a:latin typeface="Noto Sans CJK SC"/>
              </a:rPr>
              <a:t>codegen /</a:t>
            </a:r>
          </a:p>
          <a:p>
            <a:pPr algn="ctr"/>
            <a:r>
              <a:rPr sz="1050" b="1">
                <a:solidFill>
                  <a:srgbClr val="1F2430"/>
                </a:solidFill>
                <a:latin typeface="Noto Sans CJK SC"/>
              </a:rPr>
              <a:t>verification hooks</a:t>
            </a:r>
          </a:p>
        </p:txBody>
      </p:sp>
      <p:sp>
        <p:nvSpPr>
          <p:cNvPr id="20" name="Chevron 19"/>
          <p:cNvSpPr/>
          <p:nvPr/>
        </p:nvSpPr>
        <p:spPr>
          <a:xfrm>
            <a:off x="3867912" y="2578608"/>
            <a:ext cx="256032" cy="237744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evron 20"/>
          <p:cNvSpPr/>
          <p:nvPr/>
        </p:nvSpPr>
        <p:spPr>
          <a:xfrm>
            <a:off x="4956048" y="2578608"/>
            <a:ext cx="256032" cy="237744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6693408" y="2578608"/>
            <a:ext cx="256032" cy="237744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8156448" y="2578608"/>
            <a:ext cx="256032" cy="237744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9808" y="1444752"/>
            <a:ext cx="1920240" cy="117043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9808" y="1444752"/>
            <a:ext cx="192024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1609344"/>
            <a:ext cx="159105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target profile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020824"/>
            <a:ext cx="159105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19" b="0">
                <a:solidFill>
                  <a:srgbClr val="1F2430"/>
                </a:solidFill>
                <a:latin typeface="Noto Sans CJK SC"/>
              </a:rPr>
              <a:t>不直接追求宽语义 UML/SCXML，而是主动收束成 control-state profile。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2834640"/>
            <a:ext cx="1920240" cy="117043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9808" y="2834640"/>
            <a:ext cx="1920240" cy="10972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2999232"/>
            <a:ext cx="159105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executable semantics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3410712"/>
            <a:ext cx="159105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19" b="0">
                <a:solidFill>
                  <a:srgbClr val="1F2430"/>
                </a:solidFill>
                <a:latin typeface="Noto Sans CJK SC"/>
              </a:rPr>
              <a:t>一生成就可解析、可执行、可继续进入 parser/runtime 反馈。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64040" y="1444752"/>
            <a:ext cx="1920240" cy="117043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464040" y="1444752"/>
            <a:ext cx="1920240" cy="109728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28632" y="1609344"/>
            <a:ext cx="159105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formal core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2020824"/>
            <a:ext cx="159105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19" b="0">
                <a:solidFill>
                  <a:srgbClr val="1F2430"/>
                </a:solidFill>
                <a:latin typeface="Noto Sans CJK SC"/>
              </a:rPr>
              <a:t>形式化核心与外部 action 显式隔离，方便验证与后续修复。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2834640"/>
            <a:ext cx="1920240" cy="117043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464040" y="2834640"/>
            <a:ext cx="1920240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2999232"/>
            <a:ext cx="159105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03354"/>
                </a:solidFill>
                <a:latin typeface="Noto Serif CJK SC"/>
              </a:rPr>
              <a:t>cross-project base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8632" y="3410712"/>
            <a:ext cx="159105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19" b="0">
                <a:solidFill>
                  <a:srgbClr val="1F2430"/>
                </a:solidFill>
                <a:latin typeface="Noto Sans CJK SC"/>
              </a:rPr>
              <a:t>它为 project_2/3/4 提供共同模型对象，而不是一次性 demo。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6" y="5047488"/>
            <a:ext cx="10625328" cy="658368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8096" y="5047488"/>
            <a:ext cx="10625328" cy="91440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175503"/>
            <a:ext cx="10332719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03354"/>
                </a:solidFill>
                <a:latin typeface="Noto Serif CJK SC"/>
              </a:rPr>
              <a:t>结论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394959"/>
            <a:ext cx="10332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80" b="0">
                <a:solidFill>
                  <a:srgbClr val="1F2430"/>
                </a:solidFill>
                <a:latin typeface="Noto Sans CJK SC"/>
              </a:rPr>
              <a:t>`pyfcstm` 回答的是“LLM 到底该生成什么对象，为什么这个对象既可执行又适合闭环”这个研究问题，而不是简单实现问题。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[7][8]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基础设施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`project_3` 的实质推进主要在 `pyudbm`，但核心搜索仍缺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backend 不是空白，只是还没长成第一版 profile-guided verifier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115568"/>
            <a:ext cx="10643616" cy="38404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1179576"/>
            <a:ext cx="640080" cy="256031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207008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前因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1" y="1207008"/>
            <a:ext cx="447031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project_3 很容易被看成“目录还空，所以几乎没动”。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7360" y="1179576"/>
            <a:ext cx="640080" cy="256031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7360" y="1207008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430"/>
                </a:solidFill>
                <a:latin typeface="Noto Sans CJK SC"/>
              </a:rPr>
              <a:t>因此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47168" y="1207008"/>
            <a:ext cx="361882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所以这页要把“地基已做很多”和“完整 verifier 仍未成型”分开说。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1609344"/>
            <a:ext cx="2103120" cy="93268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1609344"/>
            <a:ext cx="128016" cy="93268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1773936"/>
            <a:ext cx="1691639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A04B39"/>
                </a:solidFill>
                <a:latin typeface="Noto Serif CJK SC"/>
              </a:rPr>
              <a:t>a8d0649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249424"/>
            <a:ext cx="1691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Noto Sans CJK SC"/>
              </a:rPr>
              <a:t>main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505456"/>
            <a:ext cx="1691639" cy="-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8707E"/>
                </a:solidFill>
                <a:latin typeface="Noto Sans CJK SC"/>
              </a:rPr>
              <a:t>本地 clone 于 `~/oo-projects/pyudbm`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2697480"/>
            <a:ext cx="2834640" cy="47548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2834640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1">
                <a:solidFill>
                  <a:srgbClr val="1F2430"/>
                </a:solidFill>
                <a:latin typeface="Noto Sans CJK SC"/>
              </a:rPr>
              <a:t>符号核  |  UDBM API 与 UCDD 路线已立住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3282696"/>
            <a:ext cx="3145536" cy="47548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3419856"/>
            <a:ext cx="287121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1">
                <a:solidFill>
                  <a:srgbClr val="1F2430"/>
                </a:solidFill>
                <a:latin typeface="Noto Sans CJK SC"/>
              </a:rPr>
              <a:t>模型前端  |  UTAP 绑定、`load_xml`、`parse_query` 已有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3867912"/>
            <a:ext cx="3456432" cy="47548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005072"/>
            <a:ext cx="31821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1">
                <a:solidFill>
                  <a:srgbClr val="1F2430"/>
                </a:solidFill>
                <a:latin typeface="Noto Sans CJK SC"/>
              </a:rPr>
              <a:t>query + corpus  |  roundtrip 与 178 个官方样本已成体系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453128"/>
            <a:ext cx="3767328" cy="47548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738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590288"/>
            <a:ext cx="34930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1">
                <a:solidFill>
                  <a:srgbClr val="1F2430"/>
                </a:solidFill>
                <a:latin typeface="Noto Sans CJK SC"/>
              </a:rPr>
              <a:t>文献与路线  |  TA / UPPAAL 阅读地图与 roadmap 持续维护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623560" y="1719072"/>
          <a:ext cx="5760720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3200400"/>
              </a:tblGrid>
              <a:tr h="54602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SC"/>
                        </a:rPr>
                        <a:t>层</a:t>
                      </a:r>
                    </a:p>
                  </a:txBody>
                  <a:tcPr anchor="ctr" marL="76200" marR="76200" marT="50800" marB="50800">
                    <a:solidFill>
                      <a:srgbClr val="A04B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SC"/>
                        </a:rPr>
                        <a:t>已有</a:t>
                      </a:r>
                    </a:p>
                  </a:txBody>
                  <a:tcPr anchor="ctr" marL="76200" marR="76200" marT="50800" marB="50800">
                    <a:solidFill>
                      <a:srgbClr val="A04B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SC"/>
                        </a:rPr>
                        <a:t>仍缺 / 影响</a:t>
                      </a:r>
                    </a:p>
                  </a:txBody>
                  <a:tcPr anchor="ctr" marL="76200" marR="76200" marT="50800" marB="50800">
                    <a:solidFill>
                      <a:srgbClr val="A04B39"/>
                    </a:solidFill>
                  </a:tcPr>
                </a:tc>
              </a:tr>
              <a:tr h="5460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基础符号层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已有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不是主要瓶颈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5460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模型 / query 接口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已有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官方样本和 roundtrip 已成体系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5460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symbolic reachability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仍缺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无法形成真正 verifier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5460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A[] / E&lt;&gt; 求值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仍缺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性质检查闭环还接不上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  <a:tr h="5460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witness / counterexample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仍缺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反馈链条不完整</a:t>
                      </a:r>
                    </a:p>
                  </a:txBody>
                  <a:tcPr anchor="ctr" marL="76200" marR="76200" marT="50800" marB="50800">
                    <a:solidFill>
                      <a:srgbClr val="FFFDFC"/>
                    </a:solidFill>
                  </a:tcPr>
                </a:tc>
              </a:tr>
              <a:tr h="54602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verifyta 核心搜索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仍缺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430"/>
                          </a:solidFill>
                          <a:latin typeface="Noto Sans CJK SC"/>
                        </a:rPr>
                        <a:t>这才是 project_3 真正未过的门槛</a:t>
                      </a:r>
                    </a:p>
                  </a:txBody>
                  <a:tcPr anchor="ctr" marL="76200" marR="76200" marT="50800" marB="50800">
                    <a:solidFill>
                      <a:srgbClr val="F0EBE2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768096" y="5504688"/>
            <a:ext cx="10625328" cy="676656"/>
          </a:xfrm>
          <a:prstGeom prst="roundRect">
            <a:avLst/>
          </a:prstGeom>
          <a:solidFill>
            <a:srgbClr val="F2E4DE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68096" y="5504688"/>
            <a:ext cx="10625328" cy="91440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632703"/>
            <a:ext cx="10332719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03354"/>
                </a:solidFill>
                <a:latin typeface="Noto Serif CJK SC"/>
              </a:rPr>
              <a:t>页面结论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852159"/>
            <a:ext cx="10332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1F2430"/>
                </a:solidFill>
                <a:latin typeface="Noto Sans CJK SC"/>
              </a:rPr>
              <a:t>`project_3` 现在最合理的定位，是继续让 `pyudbm` 沉淀 timed backend，而不是抢在 `project_1` 之前承担主投稿。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[9][10][11]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基础设施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我越来越相信基础设施反馈才是 LLM-based modeling 的真正杀手锏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parser、runtime、simulation、model checking 和 regression traceability 会把问题性质彻底改变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115568"/>
            <a:ext cx="10643616" cy="38404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1179576"/>
            <a:ext cx="640080" cy="256031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207008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前因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1" y="1207008"/>
            <a:ext cx="447031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单次生成很快会碰到 action、语义一致性和可执行性瓶颈。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7360" y="1179576"/>
            <a:ext cx="640080" cy="256031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7360" y="1207008"/>
            <a:ext cx="640080" cy="237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430"/>
                </a:solidFill>
                <a:latin typeface="Noto Sans CJK SC"/>
              </a:rPr>
              <a:t>因此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47168" y="1207008"/>
            <a:ext cx="361882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1F2430"/>
                </a:solidFill>
                <a:latin typeface="Noto Sans CJK SC"/>
              </a:rPr>
              <a:t>所以真正把质量拉高的，不是 prompt 花样，而是反馈基础设施。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2212848"/>
            <a:ext cx="5623560" cy="199339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0" y="2542032"/>
            <a:ext cx="1005840" cy="512064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51760"/>
            <a:ext cx="1005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 b="1">
                <a:solidFill>
                  <a:srgbClr val="1F2430"/>
                </a:solidFill>
                <a:latin typeface="Noto Sans CJK SC"/>
              </a:rPr>
              <a:t>LLM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19472" y="2542032"/>
            <a:ext cx="1417320" cy="512064"/>
          </a:xfrm>
          <a:prstGeom prst="roundRect">
            <a:avLst/>
          </a:prstGeom>
          <a:solidFill>
            <a:srgbClr val="DCEDEA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9472" y="2651760"/>
            <a:ext cx="14173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 b="1">
                <a:solidFill>
                  <a:srgbClr val="1F2430"/>
                </a:solidFill>
                <a:latin typeface="Noto Sans CJK SC"/>
              </a:rPr>
              <a:t>control-state</a:t>
            </a:r>
          </a:p>
          <a:p>
            <a:pPr algn="ctr"/>
            <a:r>
              <a:rPr sz="1030" b="1">
                <a:solidFill>
                  <a:srgbClr val="1F2430"/>
                </a:solidFill>
                <a:latin typeface="Noto Sans CJK SC"/>
              </a:rPr>
              <a:t>DSL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56832" y="2542032"/>
            <a:ext cx="1417320" cy="512064"/>
          </a:xfrm>
          <a:prstGeom prst="roundRect">
            <a:avLst/>
          </a:prstGeom>
          <a:solidFill>
            <a:srgbClr val="DDE9EE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651760"/>
            <a:ext cx="14173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 b="1">
                <a:solidFill>
                  <a:srgbClr val="1F2430"/>
                </a:solidFill>
                <a:latin typeface="Noto Sans CJK SC"/>
              </a:rPr>
              <a:t>parser /</a:t>
            </a:r>
          </a:p>
          <a:p>
            <a:pPr algn="ctr"/>
            <a:r>
              <a:rPr sz="1030" b="1">
                <a:solidFill>
                  <a:srgbClr val="1F2430"/>
                </a:solidFill>
                <a:latin typeface="Noto Sans CJK SC"/>
              </a:rPr>
              <a:t>runtime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56832" y="3182112"/>
            <a:ext cx="1600200" cy="585216"/>
          </a:xfrm>
          <a:prstGeom prst="roundRect">
            <a:avLst/>
          </a:prstGeom>
          <a:solidFill>
            <a:srgbClr val="F2E4DE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56832" y="3291840"/>
            <a:ext cx="1600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 b="1">
                <a:solidFill>
                  <a:srgbClr val="1F2430"/>
                </a:solidFill>
                <a:latin typeface="Noto Sans CJK SC"/>
              </a:rPr>
              <a:t>simulator /</a:t>
            </a:r>
          </a:p>
          <a:p>
            <a:pPr algn="ctr"/>
            <a:r>
              <a:rPr sz="1030" b="1">
                <a:solidFill>
                  <a:srgbClr val="1F2430"/>
                </a:solidFill>
                <a:latin typeface="Noto Sans CJK SC"/>
              </a:rPr>
              <a:t>checker /</a:t>
            </a:r>
          </a:p>
          <a:p>
            <a:pPr algn="ctr"/>
            <a:r>
              <a:rPr sz="1030" b="1">
                <a:solidFill>
                  <a:srgbClr val="1F2430"/>
                </a:solidFill>
                <a:latin typeface="Noto Sans CJK SC"/>
              </a:rPr>
              <a:t>tests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60" y="3182112"/>
            <a:ext cx="1600200" cy="585216"/>
          </a:xfrm>
          <a:prstGeom prst="roundRect">
            <a:avLst/>
          </a:prstGeom>
          <a:solidFill>
            <a:srgbClr val="E3EBDD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60" y="3291840"/>
            <a:ext cx="1600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 b="1">
                <a:solidFill>
                  <a:srgbClr val="1F2430"/>
                </a:solidFill>
                <a:latin typeface="Noto Sans CJK SC"/>
              </a:rPr>
              <a:t>structured</a:t>
            </a:r>
          </a:p>
          <a:p>
            <a:pPr algn="ctr"/>
            <a:r>
              <a:rPr sz="1030" b="1">
                <a:solidFill>
                  <a:srgbClr val="1F2430"/>
                </a:solidFill>
                <a:latin typeface="Noto Sans CJK SC"/>
              </a:rPr>
              <a:t>feedback</a:t>
            </a:r>
          </a:p>
        </p:txBody>
      </p:sp>
      <p:sp>
        <p:nvSpPr>
          <p:cNvPr id="27" name="Chevron 26"/>
          <p:cNvSpPr/>
          <p:nvPr/>
        </p:nvSpPr>
        <p:spPr>
          <a:xfrm>
            <a:off x="4645152" y="2697480"/>
            <a:ext cx="219456" cy="201168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6382512" y="2697480"/>
            <a:ext cx="219456" cy="201168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7205472" y="2999232"/>
            <a:ext cx="201168" cy="201168"/>
          </a:xfrm>
          <a:prstGeom prst="downArrow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eft Arrow 29"/>
          <p:cNvSpPr/>
          <p:nvPr/>
        </p:nvSpPr>
        <p:spPr>
          <a:xfrm>
            <a:off x="6291072" y="3419856"/>
            <a:ext cx="237744" cy="201168"/>
          </a:xfrm>
          <a:prstGeom prst="leftArrow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Up Arrow 30"/>
          <p:cNvSpPr/>
          <p:nvPr/>
        </p:nvSpPr>
        <p:spPr>
          <a:xfrm>
            <a:off x="4005072" y="2852928"/>
            <a:ext cx="201168" cy="329184"/>
          </a:xfrm>
          <a:prstGeom prst="upArrow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9808" y="1664208"/>
            <a:ext cx="2103120" cy="102412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9808" y="1664208"/>
            <a:ext cx="210312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1828800"/>
            <a:ext cx="17739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03354"/>
                </a:solidFill>
                <a:latin typeface="Noto Serif CJK SC"/>
              </a:rPr>
              <a:t>2026 direct baseline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240280"/>
            <a:ext cx="1773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1F2430"/>
                </a:solidFill>
                <a:latin typeface="Noto Sans CJK SC"/>
              </a:rPr>
              <a:t>0.7029 vs 0.5431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430"/>
                </a:solidFill>
                <a:latin typeface="Noto Sans CJK SC"/>
              </a:rPr>
              <a:t>Hybrid 流程能明显拉回弱模型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26880" y="1664208"/>
            <a:ext cx="2057400" cy="107899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326880" y="1664208"/>
            <a:ext cx="2057400" cy="10972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91472" y="1828800"/>
            <a:ext cx="17282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03354"/>
                </a:solidFill>
                <a:latin typeface="Noto Serif CJK SC"/>
              </a:rPr>
              <a:t>SysML empirical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91472" y="2240280"/>
            <a:ext cx="1728216" cy="347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1F2430"/>
                </a:solidFill>
                <a:latin typeface="Noto Sans CJK SC"/>
              </a:rPr>
              <a:t>94.6 / 88.0 / 43.1 / 37.3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430"/>
                </a:solidFill>
                <a:latin typeface="Noto Sans CJK SC"/>
              </a:rPr>
              <a:t>规则反馈有效，但还不够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808" y="4297680"/>
            <a:ext cx="2103120" cy="1024128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49808" y="4297680"/>
            <a:ext cx="2103120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462272"/>
            <a:ext cx="17739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03354"/>
                </a:solidFill>
                <a:latin typeface="Noto Serif CJK SC"/>
              </a:rPr>
              <a:t>TTool 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873752"/>
            <a:ext cx="1773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1F2430"/>
                </a:solidFill>
                <a:latin typeface="Noto Sans CJK SC"/>
              </a:rPr>
              <a:t>63 vs 58，15.2x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430"/>
                </a:solidFill>
                <a:latin typeface="Noto Sans CJK SC"/>
              </a:rPr>
              <a:t>81 vs 70，67.5x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26880" y="4224528"/>
            <a:ext cx="2057400" cy="10972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26880" y="4224528"/>
            <a:ext cx="2057400" cy="109728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4389120"/>
            <a:ext cx="17282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03354"/>
                </a:solidFill>
                <a:latin typeface="Noto Serif CJK SC"/>
              </a:rPr>
              <a:t>workflow principles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91472" y="4800600"/>
            <a:ext cx="1728216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1F2430"/>
                </a:solidFill>
                <a:latin typeface="Noto Sans CJK SC"/>
              </a:rPr>
              <a:t>可信 GenAI 依赖 decomposition、sanity checks、traceability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80360" y="4956048"/>
            <a:ext cx="6492240" cy="804672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880360" y="4956048"/>
            <a:ext cx="6492240" cy="91440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26664" y="5084064"/>
            <a:ext cx="619963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03354"/>
                </a:solidFill>
                <a:latin typeface="Noto Serif CJK SC"/>
              </a:rPr>
              <a:t>Take-home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26664" y="5303520"/>
            <a:ext cx="619963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80" b="0">
                <a:solidFill>
                  <a:srgbClr val="1F2430"/>
                </a:solidFill>
                <a:latin typeface="Noto Sans CJK SC"/>
              </a:rPr>
              <a:t>与其继续拼 prompt，不如把模型输出放进能持续打分、回传反例、约束格式和校验语义的环境里。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[12][13][14][16][17]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822960"/>
            <a:ext cx="2743200" cy="2743200"/>
          </a:xfrm>
          <a:prstGeom prst="ellipse">
            <a:avLst/>
          </a:prstGeom>
          <a:solidFill>
            <a:srgbClr val="F6ECD8"/>
          </a:solidFill>
          <a:ln>
            <a:solidFill>
              <a:srgbClr val="F6E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77240" y="4937760"/>
            <a:ext cx="2560320" cy="2560320"/>
          </a:xfrm>
          <a:prstGeom prst="ellipse">
            <a:avLst/>
          </a:prstGeom>
          <a:solidFill>
            <a:srgbClr val="DDE9EE"/>
          </a:solidFill>
          <a:ln>
            <a:solidFill>
              <a:srgbClr val="DDE9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97312" y="201168"/>
            <a:ext cx="1234440" cy="310896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97312" y="228600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</a:rPr>
              <a:t>待拍板事项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1752"/>
            <a:ext cx="98755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203354"/>
                </a:solidFill>
                <a:latin typeface="Noto Serif CJK SC"/>
              </a:rPr>
              <a:t>如果明天拍板这五件事，后续 6 周的推进路径会更稳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786384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8707E"/>
                </a:solidFill>
                <a:latin typeface="Noto Sans CJK SC"/>
              </a:rPr>
              <a:t>收束问题对象、拉厚实验、准备 conference-style 论文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23444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203354"/>
                </a:solidFill>
                <a:latin typeface="Noto Sans CJK SC"/>
              </a:rPr>
              <a:t>6 周倒排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1481328"/>
            <a:ext cx="3246120" cy="98755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6384" y="1481328"/>
            <a:ext cx="3246120" cy="10972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1645920"/>
            <a:ext cx="29169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第 1-2 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057400"/>
            <a:ext cx="2916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收束问题定义与论文主张</a:t>
            </a:r>
          </a:p>
        </p:txBody>
      </p:sp>
      <p:sp>
        <p:nvSpPr>
          <p:cNvPr id="14" name="Chevron 13"/>
          <p:cNvSpPr/>
          <p:nvPr/>
        </p:nvSpPr>
        <p:spPr>
          <a:xfrm>
            <a:off x="4123944" y="1783080"/>
            <a:ext cx="347472" cy="292608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98264" y="1481328"/>
            <a:ext cx="3246120" cy="98755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98264" y="1481328"/>
            <a:ext cx="3246120" cy="109728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1645920"/>
            <a:ext cx="29169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第 3-4 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057400"/>
            <a:ext cx="2916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固化样本与 baseline 实验</a:t>
            </a:r>
          </a:p>
        </p:txBody>
      </p:sp>
      <p:sp>
        <p:nvSpPr>
          <p:cNvPr id="19" name="Chevron 18"/>
          <p:cNvSpPr/>
          <p:nvPr/>
        </p:nvSpPr>
        <p:spPr>
          <a:xfrm>
            <a:off x="7735824" y="1783080"/>
            <a:ext cx="347472" cy="292608"/>
          </a:xfrm>
          <a:prstGeom prst="chevron">
            <a:avLst/>
          </a:prstGeom>
          <a:solidFill>
            <a:srgbClr val="D8C4A3"/>
          </a:solidFill>
          <a:ln>
            <a:solidFill>
              <a:srgbClr val="D8C4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10144" y="1481328"/>
            <a:ext cx="3246120" cy="98755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10144" y="1481328"/>
            <a:ext cx="3246120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645920"/>
            <a:ext cx="29169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第 5-6 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2057400"/>
            <a:ext cx="2916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1F2430"/>
                </a:solidFill>
                <a:latin typeface="Noto Sans CJK SC"/>
              </a:rPr>
              <a:t>完成初稿与 venue 策略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" y="2926080"/>
            <a:ext cx="2697480" cy="12344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6384" y="2926080"/>
            <a:ext cx="269748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3090672"/>
            <a:ext cx="23682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203354"/>
                </a:solidFill>
                <a:latin typeface="Noto Serif CJK SC"/>
              </a:rPr>
              <a:t>决策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3502152"/>
            <a:ext cx="23682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本学期主投稿是否锁定 `project_1`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2926080"/>
            <a:ext cx="2697480" cy="12344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03320" y="2926080"/>
            <a:ext cx="2697480" cy="109728"/>
          </a:xfrm>
          <a:prstGeom prst="roundRect">
            <a:avLst/>
          </a:prstGeom>
          <a:solidFill>
            <a:srgbClr val="1D6F73"/>
          </a:solidFill>
          <a:ln w="12700">
            <a:solidFill>
              <a:srgbClr val="1D6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67911" y="3090672"/>
            <a:ext cx="23682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203354"/>
                </a:solidFill>
                <a:latin typeface="Noto Serif CJK SC"/>
              </a:rPr>
              <a:t>决策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67911" y="3502152"/>
            <a:ext cx="23682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论文对象是否先限定为离散 `control-state layer`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0256" y="2926080"/>
            <a:ext cx="2697480" cy="12344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620256" y="2926080"/>
            <a:ext cx="2697480" cy="109728"/>
          </a:xfrm>
          <a:prstGeom prst="roundRect">
            <a:avLst/>
          </a:prstGeom>
          <a:solidFill>
            <a:srgbClr val="C8912C"/>
          </a:solidFill>
          <a:ln w="12700">
            <a:solidFill>
              <a:srgbClr val="C89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84848" y="3090672"/>
            <a:ext cx="23682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203354"/>
                </a:solidFill>
                <a:latin typeface="Noto Serif CJK SC"/>
              </a:rPr>
              <a:t>决策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4848" y="3502152"/>
            <a:ext cx="23682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`pyfcstm` 是否正面写成 target formalism / executable IR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" y="4443984"/>
            <a:ext cx="2697480" cy="12344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86384" y="4443984"/>
            <a:ext cx="2697480" cy="109728"/>
          </a:xfrm>
          <a:prstGeom prst="roundRect">
            <a:avLst/>
          </a:prstGeom>
          <a:solidFill>
            <a:srgbClr val="A04B39"/>
          </a:solidFill>
          <a:ln w="12700">
            <a:solidFill>
              <a:srgbClr val="A04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6" y="4608576"/>
            <a:ext cx="23682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203354"/>
                </a:solidFill>
                <a:latin typeface="Noto Serif CJK SC"/>
              </a:rPr>
              <a:t>决策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" y="5020056"/>
            <a:ext cx="23682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`pyudbm` 是否继续做 backend 地基而不抢主线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4443984"/>
            <a:ext cx="2697480" cy="123444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703320" y="4443984"/>
            <a:ext cx="2697480" cy="109728"/>
          </a:xfrm>
          <a:prstGeom prst="roundRect">
            <a:avLst/>
          </a:prstGeom>
          <a:solidFill>
            <a:srgbClr val="73876C"/>
          </a:solidFill>
          <a:ln w="12700">
            <a:solidFill>
              <a:srgbClr val="738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67911" y="4608576"/>
            <a:ext cx="23682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203354"/>
                </a:solidFill>
                <a:latin typeface="Noto Serif CJK SC"/>
              </a:rPr>
              <a:t>决策 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67911" y="5020056"/>
            <a:ext cx="23682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近端写法是否按 ASE-style automation + feedback infrastructure 组织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45168" y="3730752"/>
            <a:ext cx="2057400" cy="1965960"/>
          </a:xfrm>
          <a:prstGeom prst="roundRect">
            <a:avLst/>
          </a:prstGeom>
          <a:solidFill>
            <a:srgbClr val="F6ECD8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45168" y="3730752"/>
            <a:ext cx="2057400" cy="109728"/>
          </a:xfrm>
          <a:prstGeom prst="roundRect">
            <a:avLst/>
          </a:prstGeom>
          <a:solidFill>
            <a:srgbClr val="203354"/>
          </a:solidFill>
          <a:ln w="12700">
            <a:solidFill>
              <a:srgbClr val="20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0" y="3895344"/>
            <a:ext cx="17282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03354"/>
                </a:solidFill>
                <a:latin typeface="Noto Serif CJK SC"/>
              </a:rPr>
              <a:t>Closing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9760" y="4306824"/>
            <a:ext cx="1728216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F2430"/>
                </a:solidFill>
                <a:latin typeface="Noto Sans CJK SC"/>
              </a:rPr>
              <a:t>如果这五件事里有三四件能拍板，后面 6 周就可以沿着“对象收束 -&gt; 实验拉厚 -&gt; 初稿成型”稳步推进。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6309360"/>
            <a:ext cx="11045952" cy="9144"/>
          </a:xfrm>
          <a:prstGeom prst="rect">
            <a:avLst/>
          </a:prstGeom>
          <a:solidFill>
            <a:srgbClr val="D7CFC3"/>
          </a:solidFill>
          <a:ln w="12700">
            <a:solidFill>
              <a:srgbClr val="D7C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5216" y="6345936"/>
            <a:ext cx="8046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8707E"/>
                </a:solidFill>
                <a:latin typeface="Noto Sans CJK SC"/>
              </a:rPr>
              <a:t>依据 [1][7][15]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7080" y="6309360"/>
            <a:ext cx="685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8707E"/>
                </a:solidFill>
                <a:latin typeface="Noto Sans Mono CJK SC"/>
              </a:rPr>
              <a:t>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2026-04-15-讨论</dc:title>
  <dc:subject>讨论 deck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