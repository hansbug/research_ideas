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203354"/>
            </a:solidFill>
            <a:ln>
              <a:solidFill>
                <a:srgbClr val="203354"/>
              </a:solidFill>
            </a:ln>
          </c:spPr>
          <c:dPt>
            <c:idx val="0"/>
            <c:spPr>
              <a:solidFill>
                <a:srgbClr val="203354"/>
              </a:solidFill>
              <a:ln>
                <a:solidFill>
                  <a:srgbClr val="203354"/>
                </a:solidFill>
              </a:ln>
            </c:spPr>
          </c:dPt>
          <c:dPt>
            <c:idx val="1"/>
            <c:spPr>
              <a:solidFill>
                <a:srgbClr val="D8C4A3"/>
              </a:solidFill>
              <a:ln>
                <a:solidFill>
                  <a:srgbClr val="D8C4A3"/>
                </a:solidFill>
              </a:ln>
            </c:spPr>
          </c:dPt>
          <c:dPt>
            <c:idx val="2"/>
            <c:spPr>
              <a:solidFill>
                <a:srgbClr val="1D6F73"/>
              </a:solidFill>
              <a:ln>
                <a:solidFill>
                  <a:srgbClr val="1D6F73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Claude
单提示</c:v>
                </c:pt>
                <c:pt idx="1">
                  <c:v>GPT-4o
单提示</c:v>
                </c:pt>
                <c:pt idx="2">
                  <c:v>GPT-4o
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0.7029</c:v>
                </c:pt>
                <c:pt idx="1">
                  <c:v>0.5431</c:v>
                </c:pt>
                <c:pt idx="2">
                  <c:v>0.6559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 val="0"/>
        <c:axPos val="l"/>
        <c:majorGridlines>
          <c:spPr>
            <a:ln>
              <a:solidFill>
                <a:srgbClr val="D7CFC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1D6F73"/>
            </a:solidFill>
            <a:ln>
              <a:solidFill>
                <a:srgbClr val="1D6F73"/>
              </a:solidFill>
            </a:ln>
          </c:spPr>
          <c:dPt>
            <c:idx val="0"/>
            <c:spPr>
              <a:solidFill>
                <a:srgbClr val="1D6F73"/>
              </a:solidFill>
              <a:ln>
                <a:solidFill>
                  <a:srgbClr val="1D6F73"/>
                </a:solidFill>
              </a:ln>
            </c:spPr>
          </c:dPt>
          <c:dPt>
            <c:idx val="1"/>
            <c:spPr>
              <a:solidFill>
                <a:srgbClr val="C8912C"/>
              </a:solidFill>
              <a:ln>
                <a:solidFill>
                  <a:srgbClr val="C8912C"/>
                </a:solidFill>
              </a:ln>
            </c:spPr>
          </c:dPt>
          <c:dPt>
            <c:idx val="2"/>
            <c:spPr>
              <a:solidFill>
                <a:srgbClr val="A04B39"/>
              </a:solidFill>
              <a:ln>
                <a:solidFill>
                  <a:srgbClr val="A04B39"/>
                </a:solidFill>
              </a:ln>
            </c:spPr>
          </c:dPt>
          <c:dPt>
            <c:idx val="3"/>
            <c:spPr>
              <a:solidFill>
                <a:srgbClr val="73876C"/>
              </a:solidFill>
              <a:ln>
                <a:solidFill>
                  <a:srgbClr val="73876C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格式</c:v>
                </c:pt>
                <c:pt idx="1">
                  <c:v>语法</c:v>
                </c:pt>
                <c:pt idx="2">
                  <c:v>语义</c:v>
                </c:pt>
                <c:pt idx="3">
                  <c:v>需求一致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94.6</c:v>
                </c:pt>
                <c:pt idx="1">
                  <c:v>88.0</c:v>
                </c:pt>
                <c:pt idx="2">
                  <c:v>43.1</c:v>
                </c:pt>
                <c:pt idx="3">
                  <c:v>37.3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7CFC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今天我想把最近已经落地的材料、现在真正卡住的问题，以及我对下一步投稿主线的判断放在一条线上讲。</a:t>
            </a:r>
          </a:p>
          <a:p/>
          <a:p>
            <a:r>
              <a:t>重点不是把四个 project 都平均展开，而是想和您先对齐本学期应该先收束哪一个问题。</a:t>
            </a:r>
          </a:p>
          <a:p/>
          <a:p>
            <a:r>
              <a:t>补充：</a:t>
            </a:r>
          </a:p>
          <a:p>
            <a:r>
              <a:t>开场控制在 25 秒，先把讨论目的说清楚。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所以我这次不会按目录顺序把所有事情轮流过一遍，而是按三个需要拍板的决策组织材料。</a:t>
            </a:r>
          </a:p>
          <a:p/>
          <a:p>
            <a:r>
              <a:t>后面的每一页都服务于这三个问题中的至少一个，不会单独做信息堆砌。</a:t>
            </a:r>
          </a:p>
          <a:p/>
          <a:p>
            <a:r>
              <a:t>补充：</a:t>
            </a:r>
          </a:p>
          <a:p>
            <a:r>
              <a:t>指出三张卡时，从左到右念。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如果先把这一页压缩成一句话，就是现在材料并不少，真正决定论文能不能站住的，是问题边界能不能先收紧。</a:t>
            </a:r>
          </a:p>
          <a:p/>
          <a:p>
            <a:r>
              <a:t>后面我会分别用 project_1 的三条文库线、pyfcstm 和 pyudbm 的现状，以及几篇 baseline 的结果，把这六点判断展开。</a:t>
            </a:r>
          </a:p>
          <a:p/>
          <a:p>
            <a:r>
              <a:t>补充：</a:t>
            </a:r>
          </a:p>
          <a:p>
            <a:r>
              <a:t>六张卡逐张不要展开太多，每张一句即可。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如果只看博士全局，四个方向都重要；但从官方 2026 页面看，A 类会议和大多数贴题 B 类会议的 main-track deadline 已经过去，真正还开着的会议主窗口主要只剩 ESEM，而 MoDELS 也已经只剩 NIER 这类短格式。</a:t>
            </a:r>
          </a:p>
          <a:p/>
          <a:p>
            <a:r>
              <a:t>所以这页真正要表达的不是“现在没有路了”，而是“现在的路已经从赶 main-track 变成两类后手：一个是 ESEM 这样的剩余会议窗口，另一个是官方主页明确还在收稿的 rolling journals”。</a:t>
            </a:r>
          </a:p>
          <a:p/>
          <a:p>
            <a:r>
              <a:t>在这个前提下，project_1 更应该按下一轮主稿质量去打磨，而不是为了抢一个近端窗口把问题定义重新做散。</a:t>
            </a:r>
          </a:p>
          <a:p/>
          <a:p>
            <a:r>
              <a:t>补充：</a:t>
            </a:r>
          </a:p>
          <a:p>
            <a:r>
              <a:t>时间统一按官方页面的 AoE 口径；journal 的判断标准不是年度 CFP，而是官方主页明确仍有 submit / author-guidelines 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我并不是要把 project_2 到 project_4 否掉，而是想强调这几条线现在是前后依赖关系，不是并列比赛。</a:t>
            </a:r>
          </a:p>
          <a:p/>
          <a:p>
            <a:r>
              <a:t>只要 project_1 的对象和目标形式主义没有先立稳，后面的验证和修复就很难围绕同一个模型对象做。</a:t>
            </a:r>
          </a:p>
          <a:p/>
          <a:p>
            <a:r>
              <a:t>补充：</a:t>
            </a:r>
          </a:p>
          <a:p>
            <a:r>
              <a:t>指流程图时按左到右。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 project_1 的整体索引。三条文库线加上一条仓库线，分别回答比较对象、真实样本、类型选型和落地基座。</a:t>
            </a:r>
          </a:p>
          <a:p/>
          <a:p>
            <a:r>
              <a:t>也正因为这四件事现在都已经有基础，我才认为 project_1 已经具备先写成论文的条件。</a:t>
            </a:r>
          </a:p>
          <a:p/>
          <a:p>
            <a:r>
              <a:t>补充：</a:t>
            </a:r>
          </a:p>
          <a:p>
            <a:r>
              <a:t>中央结论节点最后再读一次。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这一页我不想再把 baseline 讲成“62 篇里有 14 篇绿色”这么空的话，而是要把最关键的绿色文献到底走了哪些方法路线讲清楚。</a:t>
            </a:r>
          </a:p>
          <a:p/>
          <a:p>
            <a:r>
              <a:t>因为我们真正需要的不是更多题目，而是一个清楚的方法地图：别人是靠结构分解、反馈修复、代码生成闭环，还是靠知识注入和工具链集成把效果拉起来。</a:t>
            </a:r>
          </a:p>
          <a:p/>
          <a:p>
            <a:r>
              <a:t>补充：</a:t>
            </a:r>
          </a:p>
          <a:p>
            <a:r>
              <a:t>五条方法线最好按从“更直接的 NL -&gt; state machine”到“更强基础设施闭环”来讲。</a:t>
            </a:r>
          </a:p>
          <a:p>
            <a:r>
              <a:t>讲到 Umple 时，强调“小而稳的文本 DSL 仍需要示例 / schema 支撑”。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这页我想用几组最硬的数字把一个趋势说明白：一次生成当然有用，但它很快会卡在 action、复杂约束和语义一致性这些地方。</a:t>
            </a:r>
          </a:p>
          <a:p/>
          <a:p>
            <a:r>
              <a:t>一旦工作流里引入模型检查、格式校验、仿真或工具链反馈，结果就会明显更稳，所以我越来越不相信纯 prompt 会是长期答案。</a:t>
            </a:r>
          </a:p>
          <a:p/>
          <a:p>
            <a:r>
              <a:t>补充：</a:t>
            </a:r>
          </a:p>
          <a:p>
            <a:r>
              <a:t>提及 IEC 61499 那篇时，用一句话说明“接上仿真和代码生成后，方法性质就变了”。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这一块我觉得必须先把方法论讲清楚，因为后面的 EFSM、HSM、T0、T1 占比很容易被误会成领域自然分布。</a:t>
            </a:r>
          </a:p>
          <a:p/>
          <a:p>
            <a:r>
              <a:t>实际上它已经是一个治理后的样本主集，目标就是服务后续数据集和论文对象收束。</a:t>
            </a:r>
          </a:p>
          <a:p/>
          <a:p>
            <a:r>
              <a:t>补充：</a:t>
            </a:r>
          </a:p>
          <a:p>
            <a:r>
              <a:t>warning ribbon 要点出来。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我这里故意把表格做成“指标加定义”的形式，因为如果只有标题和数字，导师很难判断这些统计到底在说明什么。</a:t>
            </a:r>
          </a:p>
          <a:p/>
          <a:p>
            <a:r>
              <a:t>现在这组数字最重要的意义是：样例池已经够厚，真正该做的是围绕它定义论文对象和评测口径，而不是再把时间花在泛扩样上。</a:t>
            </a:r>
          </a:p>
          <a:p/>
          <a:p>
            <a:r>
              <a:t>补充：</a:t>
            </a:r>
          </a:p>
          <a:p>
            <a:r>
              <a:t>先念 big numbers，再看下方两张表。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这一页不是在替领域做统计，而是在替我们的论文边界做自我约束。</a:t>
            </a:r>
          </a:p>
          <a:p/>
          <a:p>
            <a:r>
              <a:t>我要明确告诉导师：这些数字首先来自定向筛选，所以它们能证明“我们池子里有很多这类样本”，却不能证明“世界上控制系统天然主要就是这类”。</a:t>
            </a:r>
          </a:p>
          <a:p/>
          <a:p>
            <a:r>
              <a:t>补充：</a:t>
            </a:r>
          </a:p>
          <a:p>
            <a:r>
              <a:t>把“不能这样说 / 可以这样说”对照着讲，避免观众只记住右边数字。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这一页是为了防止导师自然地追问一句“那是不是做个普通 FSM 就行了”。</a:t>
            </a:r>
          </a:p>
          <a:p/>
          <a:p>
            <a:r>
              <a:t>答案是否定的，因为我们现在这个池子虽然定向筛成了 control-state layer，但里面仍然大量保留了层次、timer、恢复链和联锁条件。</a:t>
            </a:r>
          </a:p>
          <a:p/>
          <a:p>
            <a:r>
              <a:t>补充：</a:t>
            </a:r>
          </a:p>
          <a:p>
            <a:r>
              <a:t>四张模式卡按“阶段链 -&gt; 联锁 -&gt; 层次 -&gt; 恢复”顺序讲。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这页我想强调的是，我们并不是只在一个很窄的离散制造角落里找到样本，而是已经在多个控制语境里都有足够可用的例子。</a:t>
            </a:r>
          </a:p>
          <a:p/>
          <a:p>
            <a:r>
              <a:t>所以这些例子不是为了说“世界分布是这样”，而是为了说明“我们现在写 paper 已经不缺可讲、可比、可测的案例”。</a:t>
            </a:r>
          </a:p>
          <a:p/>
          <a:p>
            <a:r>
              <a:t>补充：</a:t>
            </a:r>
          </a:p>
          <a:p>
            <a:r>
              <a:t>五个样本重点只讲三行，但要点出“coverage 而非 prevalence”。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这条文库线最重要的结论不是“哪个家族分支条目最多”，而是今天的状态机研究已经很大程度上转向 profile、DSL、元模型和执行载体。</a:t>
            </a:r>
          </a:p>
          <a:p/>
          <a:p>
            <a:r>
              <a:t>这就给了 pyfcstm 一个很清楚的学术位置：它不是在假装覆盖整个状态机宇宙，而是在主动塑造一个更适合 project_1 的 control-state profile。</a:t>
            </a:r>
          </a:p>
          <a:p/>
          <a:p>
            <a:r>
              <a:t>补充：</a:t>
            </a:r>
          </a:p>
          <a:p>
            <a:r>
              <a:t>右侧一定要点出“贡献形态”而不是只点类别名。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这一页要把“控制系统状态机”这个词收成一个更可操作的对象，而不是继续用大口袋式说法。</a:t>
            </a:r>
          </a:p>
          <a:p/>
          <a:p>
            <a:r>
              <a:t>我更愿意把第一篇 paper 直接聚焦到模式组织、联锁、恢复、事件权限和局部 timer 这几类语义，因为这正是 pyfcstm 现在最能承载的那层。</a:t>
            </a:r>
          </a:p>
          <a:p/>
          <a:p>
            <a:r>
              <a:t>补充：</a:t>
            </a:r>
          </a:p>
          <a:p>
            <a:r>
              <a:t>这页多停留几秒，等导师看六张卡。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这一页站在状态机语境里讲 pyfcstm 到底是什么，以及它和几类相邻工作的边界差在哪里。</a:t>
            </a:r>
          </a:p>
          <a:p/>
          <a:p>
            <a:r>
              <a:t>核心不是说它比别人更大，而是说它在 control-state 这条线上做了一个更窄、更闭、更适合自动生成和闭环反馈的 profile。</a:t>
            </a:r>
          </a:p>
          <a:p/>
          <a:p>
            <a:r>
              <a:t>补充：</a:t>
            </a:r>
          </a:p>
          <a:p>
            <a:r>
              <a:t>讲解顺序优先按 HSM -&gt; Umple -&gt; UmpleRun -&gt; SCXML -&gt; Sismic -&gt; UPPAAL。</a:t>
            </a:r>
          </a:p>
          <a:p>
            <a:r>
              <a:t>Umple 必须重点讲：它最像文本状态机 DSL 近邻，但更偏 UML 复合状态机文本承载与代码生成；UmpleRun 则更偏其动态验证路线。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如果论文里只是把 pyfcstm 当成实现细节，我觉得会浪费掉它最重要的研究意义。</a:t>
            </a:r>
          </a:p>
          <a:p/>
          <a:p>
            <a:r>
              <a:t>它真正回答的是三件事：应该生成什么对象、生成结果为什么能立刻执行、以及为什么它能继续接到验证和修复闭环。</a:t>
            </a:r>
          </a:p>
          <a:p/>
          <a:p>
            <a:r>
              <a:t>补充：</a:t>
            </a:r>
          </a:p>
          <a:p>
            <a:r>
              <a:t>能力带要被讲成“这不是空口贡献，而是已经有落地基座”。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这页的目标是把 project_3 讲得既诚实又准确。</a:t>
            </a:r>
          </a:p>
          <a:p/>
          <a:p>
            <a:r>
              <a:t>诚实的部分是它还没有完整验证器；准确的部分是它并不是空白，而是大量 timed backend 和文献整理工作已经集中在 pyudbm 里做了。</a:t>
            </a:r>
          </a:p>
          <a:p/>
          <a:p>
            <a:r>
              <a:t>补充：</a:t>
            </a:r>
          </a:p>
          <a:p>
            <a:r>
              <a:t>指出 178 个 official files 是样本地基。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我现在最想强调的一点其实在这里。</a:t>
            </a:r>
          </a:p>
          <a:p/>
          <a:p>
            <a:r>
              <a:t>这些 baseline 的共同证据都在提示同一个方向：让 LLM 单次想得更聪明当然有帮助，但真正把质量拉上去的，是 parser、仿真器、model checker 和 regression trace 这些基础设施提供的连续反馈。</a:t>
            </a:r>
          </a:p>
          <a:p/>
          <a:p>
            <a:r>
              <a:t>这也是为什么我会越来越看重 pyfcstm 这类可执行目标对象。</a:t>
            </a:r>
          </a:p>
          <a:p/>
          <a:p>
            <a:r>
              <a:t>补充：</a:t>
            </a:r>
          </a:p>
          <a:p>
            <a:r>
              <a:t>中央闭环先念一圈，再看四张 evidence cards。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最后我最希望明天讨论能落到这五个具体问题上。</a:t>
            </a:r>
          </a:p>
          <a:p/>
          <a:p>
            <a:r>
              <a:t>只要这五件事里有三四件能拍板，后面 6 周其实就可以很明确地按“对象收束、实验拉厚、初稿成型、锁定 ESEM 或 rolling journal 后手”这条线推进。</a:t>
            </a:r>
          </a:p>
          <a:p/>
          <a:p>
            <a:r>
              <a:t>如果您觉得其中某个判断有问题，我也希望优先把那个问题挑出来，而不是继续平均铺开。</a:t>
            </a:r>
          </a:p>
          <a:p/>
          <a:p>
            <a:r>
              <a:t>补充：</a:t>
            </a:r>
          </a:p>
          <a:p>
            <a:r>
              <a:t>最后一句停顿，进入讨论。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8120" y="822960"/>
            <a:ext cx="3474720" cy="4754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8120" y="822960"/>
            <a:ext cx="146304" cy="4754880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6217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03354"/>
                </a:solidFill>
                <a:latin typeface="Noto Serif CJK SC"/>
              </a:rPr>
              <a:t>2026-04-15-讨论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5943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430"/>
                </a:solidFill>
                <a:latin typeface="Noto Serif CJK SC"/>
              </a:rPr>
              <a:t>当前进展、问题收束</a:t>
            </a:r>
          </a:p>
          <a:p>
            <a:pPr algn="l"/>
            <a:r>
              <a:rPr sz="2200" b="1">
                <a:solidFill>
                  <a:srgbClr val="1F2430"/>
                </a:solidFill>
                <a:latin typeface="Noto Serif CJK SC"/>
              </a:rPr>
              <a:t>与下一步投稿判断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07E"/>
                </a:solidFill>
                <a:latin typeface="Noto Sans CJK SC"/>
              </a:rPr>
              <a:t>这次汇报只做三件事：给出现状判断、解释为什么先收束 project_1、以及明确需要拍板的问题。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600200" cy="347472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85032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project_1 优先级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3657600"/>
            <a:ext cx="1463040" cy="347472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68503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pyfcstm vs pyudbm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657600"/>
            <a:ext cx="1600200" cy="347472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3685032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control-state 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博士研究进展对齐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2834640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051560"/>
            <a:ext cx="2834640" cy="91440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179576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project_1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399032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建模主线 / 当前优先级最高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057400"/>
            <a:ext cx="2834640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2057400"/>
            <a:ext cx="2834640" cy="91440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185416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project_2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404872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性质与场景生成 / 接口层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063240"/>
            <a:ext cx="2834640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3063240"/>
            <a:ext cx="2834640" cy="91440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3191256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project_3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410712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verification backend / 地基已起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069080"/>
            <a:ext cx="2834640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92440" y="4069080"/>
            <a:ext cx="2834640" cy="91440"/>
          </a:xfrm>
          <a:prstGeom prst="round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4197096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project_4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4416552"/>
            <a:ext cx="25420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iterative repair / 依赖前置成熟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13892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68707E"/>
                </a:solidFill>
                <a:latin typeface="Noto Sans CJK SC"/>
              </a:rPr>
              <a:t>日期 2026-04-15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[1][2][7]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总体判断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明天这次讨论，我最希望先对齐三个决策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先拍板问题边界，再决定论文如何写和接下来 6 周怎么推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318211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3182112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1581912"/>
            <a:ext cx="502920" cy="301752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09344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581912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主投稿先锁定 project_1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993392"/>
            <a:ext cx="2852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先把主稿打成型，不再一次性拉四个 project。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1417320"/>
            <a:ext cx="318211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96512" y="1417320"/>
            <a:ext cx="3182112" cy="10972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61104" y="1581912"/>
            <a:ext cx="502920" cy="301752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1609344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581912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对象先限于离散控制状态层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1993392"/>
            <a:ext cx="2852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先把模式、阶段、互锁、恢复、局部定时这一层讲透。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34656" y="1417320"/>
            <a:ext cx="318211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34656" y="1417320"/>
            <a:ext cx="3182112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99248" y="1581912"/>
            <a:ext cx="502920" cy="301752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609344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581912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先讲清 pyfcstm / pyudbm 分工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1993392"/>
            <a:ext cx="2852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一个回答目标对象，一个沉淀 timed backend。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703320"/>
            <a:ext cx="2926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3354"/>
                </a:solidFill>
                <a:latin typeface="Noto Sans CJK SC"/>
              </a:rPr>
              <a:t>后续展开顺序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069080"/>
            <a:ext cx="2606040" cy="6583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069080"/>
            <a:ext cx="109728" cy="65836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7024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430"/>
                </a:solidFill>
                <a:latin typeface="Noto Sans CJK SC"/>
              </a:rPr>
              <a:t>1. 结论先给</a:t>
            </a:r>
          </a:p>
        </p:txBody>
      </p:sp>
      <p:sp>
        <p:nvSpPr>
          <p:cNvPr id="31" name="Chevron 30"/>
          <p:cNvSpPr/>
          <p:nvPr/>
        </p:nvSpPr>
        <p:spPr>
          <a:xfrm>
            <a:off x="3419856" y="4233672"/>
            <a:ext cx="365760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4720" y="4069080"/>
            <a:ext cx="2606040" cy="6583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720" y="4069080"/>
            <a:ext cx="109728" cy="65836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5887" y="427024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430"/>
                </a:solidFill>
                <a:latin typeface="Noto Sans CJK SC"/>
              </a:rPr>
              <a:t>2. project_1 文库证据</a:t>
            </a:r>
          </a:p>
        </p:txBody>
      </p:sp>
      <p:sp>
        <p:nvSpPr>
          <p:cNvPr id="35" name="Chevron 34"/>
          <p:cNvSpPr/>
          <p:nvPr/>
        </p:nvSpPr>
        <p:spPr>
          <a:xfrm>
            <a:off x="6181344" y="4233672"/>
            <a:ext cx="365760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6208" y="4069080"/>
            <a:ext cx="2606040" cy="6583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6208" y="4069080"/>
            <a:ext cx="109728" cy="65836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427024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430"/>
                </a:solidFill>
                <a:latin typeface="Noto Sans CJK SC"/>
              </a:rPr>
              <a:t>3. 基础设施与仓库进展</a:t>
            </a:r>
          </a:p>
        </p:txBody>
      </p:sp>
      <p:sp>
        <p:nvSpPr>
          <p:cNvPr id="39" name="Chevron 38"/>
          <p:cNvSpPr/>
          <p:nvPr/>
        </p:nvSpPr>
        <p:spPr>
          <a:xfrm>
            <a:off x="8942832" y="4233672"/>
            <a:ext cx="365760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97696" y="4069080"/>
            <a:ext cx="2606040" cy="6583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97696" y="4069080"/>
            <a:ext cx="109728" cy="65836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427024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430"/>
                </a:solidFill>
                <a:latin typeface="Noto Sans CJK SC"/>
              </a:rPr>
              <a:t>4. 拍板事项与倒排计划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074920"/>
            <a:ext cx="10744200" cy="822960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" y="5074920"/>
            <a:ext cx="10744200" cy="9144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202936"/>
            <a:ext cx="10451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一句话主线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5422392"/>
            <a:ext cx="10451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30" b="0">
                <a:solidFill>
                  <a:srgbClr val="1F2430"/>
                </a:solidFill>
                <a:latin typeface="Noto Sans CJK SC"/>
              </a:rPr>
              <a:t>不是再去找更多材料，而是让现有材料收敛成一篇问题边界清楚、对象清楚、基础设施落点清楚的会议论文。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[1][2][7][15]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总体判断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当前最缺的不是材料，而是把问题对象收束清楚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一页结论先给出来，后面逐页用文库与仓库证据补强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325880"/>
            <a:ext cx="2880360" cy="15727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1325880"/>
            <a:ext cx="288036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7" y="1490472"/>
            <a:ext cx="502920" cy="301752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517904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4904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先锁定 project_1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901952"/>
            <a:ext cx="2551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当前第一优先级是把主稿收束成型。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1325880"/>
            <a:ext cx="2880360" cy="15727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41648" y="1325880"/>
            <a:ext cx="2880360" cy="10972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1490472"/>
            <a:ext cx="502920" cy="301752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517904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14904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真正缺的是收束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01952"/>
            <a:ext cx="2551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project_1 当前不缺样本，缺的是问题定义。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325880"/>
            <a:ext cx="2880360" cy="15727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325880"/>
            <a:ext cx="2880360" cy="10972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71231" y="1490472"/>
            <a:ext cx="502920" cy="301752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1517904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14904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先做离散控制状态层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1901952"/>
            <a:ext cx="2551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目标对象先落到模式、阶段、互锁、恢复、局部 timer。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3255264"/>
            <a:ext cx="2880360" cy="15727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3255264"/>
            <a:ext cx="2880360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7" y="3419856"/>
            <a:ext cx="502920" cy="301752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447288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419856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pyfcstm 是研究基座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3831336"/>
            <a:ext cx="2551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它应被写成 control-state 基础设施。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41648" y="3255264"/>
            <a:ext cx="2880360" cy="15727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41648" y="3255264"/>
            <a:ext cx="2880360" cy="109728"/>
          </a:xfrm>
          <a:prstGeom prst="round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06240" y="3419856"/>
            <a:ext cx="502920" cy="301752"/>
          </a:xfrm>
          <a:prstGeom prst="round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3447288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6" y="3419856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project_3 有地基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831336"/>
            <a:ext cx="2551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pyudbm 已推进很深，仍缺核心搜索。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3255264"/>
            <a:ext cx="2880360" cy="15727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06640" y="3255264"/>
            <a:ext cx="288036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71231" y="3419856"/>
            <a:ext cx="502920" cy="301752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3447288"/>
            <a:ext cx="50292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3419856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反馈基础设施最关键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1" y="3831336"/>
            <a:ext cx="2551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LLM-based modeling 的杀手锏是持续反馈，而不只是 prompt。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" y="5166360"/>
            <a:ext cx="10680192" cy="822960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9808" y="5166360"/>
            <a:ext cx="10680192" cy="9144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5294376"/>
            <a:ext cx="103875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Take-home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513832"/>
            <a:ext cx="10387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30" b="0">
                <a:solidFill>
                  <a:srgbClr val="1F2430"/>
                </a:solidFill>
                <a:latin typeface="Noto Sans CJK SC"/>
              </a:rPr>
              <a:t>先收束对象，再拉厚实验；只要定义稳住，现有文库和仓库推进已经足以支撑一篇面向下一轮 conference 的主稿。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[1][2][4][5][7][9][12][17]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总体判断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官方 2026 日程显示：A/B 主窗口已过，近端出口主要是 ESEM 与期刊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main-track full paper 基本结束；近端只剩 ESEM、NIER 与 rolling journal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43000"/>
            <a:ext cx="10744200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1207008"/>
            <a:ext cx="640080" cy="256031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234440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1234440"/>
            <a:ext cx="45125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CAiSE / FM / RE / ASE / MoDELS research 等 A/B 主窗口都早于 2026-04-14。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3388" y="1207008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3388" y="1234440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3196" y="1234440"/>
            <a:ext cx="36530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所以现在更该把 project_1 打成下一轮主稿，并把 ESEM / rolling journal 只当近端出口。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664208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官方 2026 A/B 会议窗口（AoE）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874519"/>
            <a:ext cx="7635240" cy="1783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" y="2724912"/>
            <a:ext cx="6967728" cy="36576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2025-11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0236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299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2025-12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17880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839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69419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7379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0959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834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0415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8374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1955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49219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2800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0759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4340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1604" y="2029968"/>
            <a:ext cx="6217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68707E"/>
                </a:solidFill>
                <a:latin typeface="Noto Sans Mono CJK SC"/>
              </a:rPr>
              <a:t>2026-07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25185" y="2249424"/>
            <a:ext cx="14630" cy="51206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2486" y="2340864"/>
            <a:ext cx="896112" cy="310896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687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486" y="2350008"/>
            <a:ext cx="89611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CAiSE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11-21 / 11-28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49569" y="2651760"/>
            <a:ext cx="21945" cy="73152"/>
          </a:xfrm>
          <a:prstGeom prst="rect">
            <a:avLst/>
          </a:prstGeom>
          <a:solidFill>
            <a:srgbClr val="68707E"/>
          </a:solidFill>
          <a:ln w="12700">
            <a:solidFill>
              <a:srgbClr val="687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4410" y="2852928"/>
            <a:ext cx="859536" cy="310896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410" y="2862072"/>
            <a:ext cx="85953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FM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11-25 / 12-02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63205" y="2761488"/>
            <a:ext cx="21945" cy="91440"/>
          </a:xfrm>
          <a:prstGeom prst="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64649" y="2340864"/>
            <a:ext cx="877824" cy="310896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64649" y="2350008"/>
            <a:ext cx="87782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RE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02-16 / 02-23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92588" y="2651760"/>
            <a:ext cx="21945" cy="73152"/>
          </a:xfrm>
          <a:prstGeom prst="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43037" y="2852928"/>
            <a:ext cx="804672" cy="310896"/>
          </a:xfrm>
          <a:prstGeom prst="roundRect">
            <a:avLst/>
          </a:prstGeom>
          <a:solidFill>
            <a:srgbClr val="DDE9EE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037" y="2862072"/>
            <a:ext cx="80467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ASE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03-26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4400" y="2761488"/>
            <a:ext cx="21945" cy="91440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33752" y="2340864"/>
            <a:ext cx="960120" cy="310896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33752" y="2350008"/>
            <a:ext cx="960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MoDELS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03-20 / 03-27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02839" y="2651760"/>
            <a:ext cx="21945" cy="73152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88151" y="2852928"/>
            <a:ext cx="987552" cy="310896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8151" y="2862072"/>
            <a:ext cx="9875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ESEM Tech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05-11 / 05-18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70955" y="2761488"/>
            <a:ext cx="21945" cy="91440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75300" y="2340864"/>
            <a:ext cx="914400" cy="310896"/>
          </a:xfrm>
          <a:prstGeom prst="roundRect">
            <a:avLst/>
          </a:prstGeom>
          <a:solidFill>
            <a:srgbClr val="E3EBDD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75300" y="2350008"/>
            <a:ext cx="9144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NIER</a:t>
            </a:r>
          </a:p>
          <a:p>
            <a:pPr algn="ctr"/>
            <a:r>
              <a:rPr sz="740" b="1">
                <a:solidFill>
                  <a:srgbClr val="1F2430"/>
                </a:solidFill>
                <a:latin typeface="Noto Sans CJK SC"/>
              </a:rPr>
              <a:t>06-24 / 07-01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21527" y="2651760"/>
            <a:ext cx="21945" cy="73152"/>
          </a:xfrm>
          <a:prstGeom prst="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24587" y="2249424"/>
            <a:ext cx="27432" cy="868680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99391" y="1874519"/>
            <a:ext cx="877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0">
                <a:solidFill>
                  <a:srgbClr val="203354"/>
                </a:solidFill>
                <a:latin typeface="Noto Sans Mono CJK SC"/>
              </a:rPr>
              <a:t>当前点</a:t>
            </a:r>
          </a:p>
          <a:p>
            <a:pPr algn="ctr"/>
            <a:r>
              <a:rPr sz="819" b="0">
                <a:solidFill>
                  <a:srgbClr val="203354"/>
                </a:solidFill>
                <a:latin typeface="Noto Sans Mono CJK SC"/>
              </a:rPr>
              <a:t>2026-04-14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49640" y="1874519"/>
            <a:ext cx="2926080" cy="1783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23376" y="1993392"/>
            <a:ext cx="25786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203354"/>
                </a:solidFill>
                <a:latin typeface="Noto Sans CJK SC"/>
              </a:rPr>
              <a:t>仍可操作窗口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8686800" y="2212848"/>
          <a:ext cx="26517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CJK SC"/>
                        </a:rPr>
                        <a:t>路径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CJK SC"/>
                        </a:rPr>
                        <a:t>窗口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F2430"/>
                          </a:solidFill>
                          <a:latin typeface="Noto Sans CJK SC"/>
                        </a:rPr>
                        <a:t>ESEM Tech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430"/>
                          </a:solidFill>
                          <a:latin typeface="Noto Sans CJK SC"/>
                        </a:rPr>
                        <a:t>05-11 / 05-18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F2430"/>
                          </a:solidFill>
                          <a:latin typeface="Noto Sans CJK SC"/>
                        </a:rPr>
                        <a:t>ESEM EVR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430"/>
                          </a:solidFill>
                          <a:latin typeface="Noto Sans CJK SC"/>
                        </a:rPr>
                        <a:t>05-22 / 05-29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F2430"/>
                          </a:solidFill>
                          <a:latin typeface="Noto Sans CJK SC"/>
                        </a:rPr>
                        <a:t>MODELS NIER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430"/>
                          </a:solidFill>
                          <a:latin typeface="Noto Sans CJK SC"/>
                        </a:rPr>
                        <a:t>06-24 / 07-01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8723376" y="3273552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68707E"/>
                </a:solidFill>
                <a:latin typeface="Noto Sans CJK SC"/>
              </a:rPr>
              <a:t>ISSRE research 04-17；若 04-10 摘要未交，基本不算现实窗口。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3822191"/>
            <a:ext cx="6629400" cy="14264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" y="3968496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当前准备度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" y="4261104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F2430"/>
                </a:solidFill>
                <a:latin typeface="Noto Sans Mono CJK SC"/>
              </a:rPr>
              <a:t>project_1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847088" y="4270248"/>
            <a:ext cx="2606040" cy="128016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F0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847088" y="4270248"/>
            <a:ext cx="2397556" cy="12801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90288" y="4233672"/>
            <a:ext cx="2542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68707E"/>
                </a:solidFill>
                <a:latin typeface="Noto Sans CJK SC"/>
              </a:rPr>
              <a:t>问题、文库、baseline、pyfcstm 已够支撑主稿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" y="4517136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F2430"/>
                </a:solidFill>
                <a:latin typeface="Noto Sans Mono CJK SC"/>
              </a:rPr>
              <a:t>project_2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47088" y="4526280"/>
            <a:ext cx="2606040" cy="128016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F0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847088" y="4526280"/>
            <a:ext cx="1459382" cy="128016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90288" y="4489704"/>
            <a:ext cx="2542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68707E"/>
                </a:solidFill>
                <a:latin typeface="Noto Sans CJK SC"/>
              </a:rPr>
              <a:t>接口层有意义，但当前不适合单独先发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" y="4773168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F2430"/>
                </a:solidFill>
                <a:latin typeface="Noto Sans Mono CJK SC"/>
              </a:rPr>
              <a:t>project_3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47088" y="4782312"/>
            <a:ext cx="2606040" cy="128016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F0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847088" y="4782312"/>
            <a:ext cx="1146657" cy="128016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90288" y="4745736"/>
            <a:ext cx="2542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68707E"/>
                </a:solidFill>
                <a:latin typeface="Noto Sans CJK SC"/>
              </a:rPr>
              <a:t>backend 地基较深，验证原型尚未成型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" y="502920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F2430"/>
                </a:solidFill>
                <a:latin typeface="Noto Sans Mono CJK SC"/>
              </a:rPr>
              <a:t>project_4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7088" y="5038344"/>
            <a:ext cx="2606040" cy="128016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F0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847088" y="5038344"/>
            <a:ext cx="625449" cy="128016"/>
          </a:xfrm>
          <a:prstGeom prst="round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90288" y="5001768"/>
            <a:ext cx="2542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68707E"/>
                </a:solidFill>
                <a:latin typeface="Noto Sans CJK SC"/>
              </a:rPr>
              <a:t>依赖前几项更成熟后再起飞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43800" y="3822191"/>
            <a:ext cx="3931920" cy="14264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26679" y="3968496"/>
            <a:ext cx="3520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官方主页确认仍可投稿的期刊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26679" y="4224528"/>
            <a:ext cx="3493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30" b="0">
                <a:solidFill>
                  <a:srgbClr val="1F2430"/>
                </a:solidFill>
                <a:latin typeface="Noto Sans CJK SC"/>
              </a:rPr>
              <a:t>TSE: CFP / submission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F2430"/>
                </a:solidFill>
                <a:latin typeface="Noto Sans CJK SC"/>
              </a:rPr>
              <a:t>SoSyM: submit your manuscript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F2430"/>
                </a:solidFill>
                <a:latin typeface="Noto Sans CJK SC"/>
              </a:rPr>
              <a:t>Requirements Engineering: submit your manuscript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F2430"/>
                </a:solidFill>
                <a:latin typeface="Noto Sans CJK SC"/>
              </a:rPr>
              <a:t>ASE Journal / EMSE: submit your manuscript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26679" y="5047488"/>
            <a:ext cx="34930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07E"/>
                </a:solidFill>
                <a:latin typeface="Noto Sans CJK SC"/>
              </a:rPr>
              <a:t>这些路径更适合作为近端外部输出，不应反过来牵引问题定义。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" y="5486400"/>
            <a:ext cx="10744200" cy="493776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31520" y="5486400"/>
            <a:ext cx="10744200" cy="79004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7824" y="5601980"/>
            <a:ext cx="10451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页面结论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7824" y="5821436"/>
            <a:ext cx="10451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60" b="0">
                <a:solidFill>
                  <a:srgbClr val="1F2430"/>
                </a:solidFill>
                <a:latin typeface="Noto Sans CJK SC"/>
              </a:rPr>
              <a:t>现实的 this-semester 出口主要是 ESEM 或 rolling journals；但 project_1 仍应按下一轮主稿质量来打，而不是为了赶窗口扩题。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[1][15]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总体判断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四个 project 是一条闭环，但近端主线必须先落在 project_1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先把建模对象和目标形式主义立住，后面的 scenario、verification、repair 才有共同基座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1828800" cy="822960"/>
          </a:xfrm>
          <a:prstGeom prst="roundRect">
            <a:avLst/>
          </a:prstGeom>
          <a:solidFill>
            <a:srgbClr val="F0EBE2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430"/>
                </a:solidFill>
                <a:latin typeface="Noto Sans CJK SC"/>
              </a:rPr>
              <a:t>需求 / 描述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9192" y="2112264"/>
            <a:ext cx="384048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44952" y="1874519"/>
            <a:ext cx="1828800" cy="822960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1214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430"/>
                </a:solidFill>
                <a:latin typeface="Noto Sans CJK SC"/>
              </a:rPr>
              <a:t>建模</a:t>
            </a:r>
          </a:p>
        </p:txBody>
      </p:sp>
      <p:sp>
        <p:nvSpPr>
          <p:cNvPr id="14" name="Chevron 13"/>
          <p:cNvSpPr/>
          <p:nvPr/>
        </p:nvSpPr>
        <p:spPr>
          <a:xfrm>
            <a:off x="4946904" y="2112264"/>
            <a:ext cx="384048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12664" y="1874519"/>
            <a:ext cx="1828800" cy="822960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1214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430"/>
                </a:solidFill>
                <a:latin typeface="Noto Sans CJK SC"/>
              </a:rPr>
              <a:t>性质 / 场景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4616" y="2112264"/>
            <a:ext cx="384048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0376" y="1874519"/>
            <a:ext cx="1828800" cy="822960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0376" y="21214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430"/>
                </a:solidFill>
                <a:latin typeface="Noto Sans CJK SC"/>
              </a:rPr>
              <a:t>验证</a:t>
            </a:r>
          </a:p>
        </p:txBody>
      </p:sp>
      <p:sp>
        <p:nvSpPr>
          <p:cNvPr id="20" name="Chevron 19"/>
          <p:cNvSpPr/>
          <p:nvPr/>
        </p:nvSpPr>
        <p:spPr>
          <a:xfrm>
            <a:off x="9482328" y="2112264"/>
            <a:ext cx="384048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48088" y="1874519"/>
            <a:ext cx="1828800" cy="822960"/>
          </a:xfrm>
          <a:prstGeom prst="roundRect">
            <a:avLst/>
          </a:prstGeom>
          <a:solidFill>
            <a:srgbClr val="E3EBDD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21214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430"/>
                </a:solidFill>
                <a:latin typeface="Noto Sans CJK SC"/>
              </a:rPr>
              <a:t>修复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246120"/>
            <a:ext cx="2331720" cy="14630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3246120"/>
            <a:ext cx="2331720" cy="10972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3410712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3354"/>
                </a:solidFill>
                <a:latin typeface="Noto Serif CJK SC"/>
              </a:rPr>
              <a:t>project_1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822191"/>
            <a:ext cx="2002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目标对象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baseline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样本与 pyfcstm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4" y="3246120"/>
            <a:ext cx="2331720" cy="14630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9584" y="3246120"/>
            <a:ext cx="2331720" cy="10972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4176" y="3410712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3354"/>
                </a:solidFill>
                <a:latin typeface="Noto Serif CJK SC"/>
              </a:rPr>
              <a:t>project_2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3822191"/>
            <a:ext cx="2002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性质与场景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生成接口层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1616" y="3246120"/>
            <a:ext cx="2331720" cy="14630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71616" y="3246120"/>
            <a:ext cx="2331720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7" y="3410712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3354"/>
                </a:solidFill>
                <a:latin typeface="Noto Serif CJK SC"/>
              </a:rPr>
              <a:t>project_3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7" y="3822191"/>
            <a:ext cx="2002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profile-based verification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timed 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13648" y="3246120"/>
            <a:ext cx="2331720" cy="14630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3648" y="3246120"/>
            <a:ext cx="2331720" cy="109728"/>
          </a:xfrm>
          <a:prstGeom prst="round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3410712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3354"/>
                </a:solidFill>
                <a:latin typeface="Noto Serif CJK SC"/>
              </a:rPr>
              <a:t>project_4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822191"/>
            <a:ext cx="2002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缺陷驱动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iterative repair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074920"/>
            <a:ext cx="10789920" cy="804672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7240" y="5074920"/>
            <a:ext cx="10789920" cy="9144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" y="5202936"/>
            <a:ext cx="10497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当前判断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" y="5422392"/>
            <a:ext cx="10497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博士主线仍然是生成-验证-修复闭环；只是本学期要先把建模对象与目标形式主义打稳，后续几项才有共同基座。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[1][2]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project_1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project_1 的说服力来自三条文库线加上一条基础设施线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不是平行摆设，而是共同回答“该建什么、凭什么、如何落地”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115568"/>
            <a:ext cx="10570464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1179576"/>
            <a:ext cx="640080" cy="256031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1207008"/>
            <a:ext cx="443959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project_1 不是靠单一材料就能站住，它需要比较对象、真实样本、状态机选型和可执行落地一起支持。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1010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101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0818" y="1207008"/>
            <a:ext cx="3593957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所以这四条线必须被讲成一条证据链。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1700784"/>
            <a:ext cx="233172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1700784"/>
            <a:ext cx="233172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865376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baseline 比较集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276856"/>
            <a:ext cx="20025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62 篇比较集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回答“该和谁比”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700784"/>
            <a:ext cx="233172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1700784"/>
            <a:ext cx="2331720" cy="10972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865376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真实样本库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276856"/>
            <a:ext cx="20025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787 篇 / 746 条正例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回答“数据从哪里来”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803904"/>
            <a:ext cx="233172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3803904"/>
            <a:ext cx="2331720" cy="10972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68496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03354"/>
                </a:solidFill>
                <a:latin typeface="Noto Serif CJK SC"/>
              </a:rPr>
              <a:t>状态机家族库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79976"/>
            <a:ext cx="20025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669 + 10 条目</a:t>
            </a:r>
          </a:p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回答“到底选哪类状态机”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803904"/>
            <a:ext cx="233172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06840" y="3803904"/>
            <a:ext cx="2331720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3968496"/>
            <a:ext cx="20025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03354"/>
                </a:solidFill>
                <a:latin typeface="Noto Serif CJK SC"/>
              </a:rPr>
              <a:t>pyfcstm 基础设施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4379976"/>
            <a:ext cx="20025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executable IR</a:t>
            </a:r>
          </a:p>
          <a:p>
            <a:pPr>
              <a:spcAft>
                <a:spcPts val="200"/>
              </a:spcAft>
            </a:pPr>
            <a:r>
              <a:rPr sz="1030" b="0">
                <a:solidFill>
                  <a:srgbClr val="1F2430"/>
                </a:solidFill>
                <a:latin typeface="Noto Sans CJK SC"/>
              </a:rPr>
              <a:t>回答“如何落地”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2377440"/>
            <a:ext cx="4617720" cy="1874519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2651760"/>
            <a:ext cx="3840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8C4A3"/>
                </a:solidFill>
                <a:latin typeface="Noto Sans CJK SC"/>
              </a:rPr>
              <a:t>中央结论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2926080"/>
            <a:ext cx="4160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erif CJK SC"/>
              </a:rPr>
              <a:t>三条文库线共同把论文对象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Noto Serif CJK SC"/>
              </a:rPr>
              <a:t>压向 control-state 主问题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56616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0">
                <a:solidFill>
                  <a:srgbClr val="FFFFFF"/>
                </a:solidFill>
                <a:latin typeface="Noto Sans CJK SC"/>
              </a:rPr>
              <a:t>而 pyfcstm 则把这个对象变成可执行、可反馈、可持续迭代的模型空间。</a:t>
            </a:r>
          </a:p>
        </p:txBody>
      </p:sp>
      <p:sp>
        <p:nvSpPr>
          <p:cNvPr id="36" name="Chevron 35"/>
          <p:cNvSpPr/>
          <p:nvPr/>
        </p:nvSpPr>
        <p:spPr>
          <a:xfrm>
            <a:off x="3246120" y="2487168"/>
            <a:ext cx="411480" cy="292608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8010144" y="2487168"/>
            <a:ext cx="411480" cy="292608"/>
          </a:xfrm>
          <a:prstGeom prst="leftArrow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3246120" y="4096512"/>
            <a:ext cx="411480" cy="292608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eft Arrow 38"/>
          <p:cNvSpPr/>
          <p:nvPr/>
        </p:nvSpPr>
        <p:spPr>
          <a:xfrm>
            <a:off x="8010144" y="4096512"/>
            <a:ext cx="411480" cy="292608"/>
          </a:xfrm>
          <a:prstGeom prst="leftArrow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[2][3][4][5][7]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绿色 baseline 已经勾出了 5 条可直接讨论的方法线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明天不该只报数量，而要把最值得讲的几篇“怎么做”讲清楚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554480"/>
            <a:ext cx="2194560" cy="106070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1554480"/>
            <a:ext cx="128016" cy="1060704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719072"/>
            <a:ext cx="1783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3354"/>
                </a:solidFill>
                <a:latin typeface="Noto Serif CJK SC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94560"/>
            <a:ext cx="1783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Noto Sans CJK SC"/>
              </a:rPr>
              <a:t>baseline 条目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450591"/>
            <a:ext cx="178308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07E"/>
                </a:solidFill>
                <a:latin typeface="Noto Sans CJK SC"/>
              </a:rPr>
              <a:t>比较对象已经够用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2788920"/>
            <a:ext cx="2194560" cy="10789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03354"/>
                </a:solidFill>
                <a:latin typeface="Noto Sans CJK SC"/>
              </a:rPr>
              <a:t>状态分布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255264"/>
            <a:ext cx="429473" cy="256032"/>
          </a:xfrm>
          <a:prstGeom prst="rect">
            <a:avLst/>
          </a:prstGeom>
          <a:solidFill>
            <a:srgbClr val="3F8F6B"/>
          </a:solidFill>
          <a:ln w="12700">
            <a:solidFill>
              <a:srgbClr val="3F8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310128"/>
            <a:ext cx="429473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🟢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2161" y="3255264"/>
            <a:ext cx="582856" cy="256032"/>
          </a:xfrm>
          <a:prstGeom prst="rect">
            <a:avLst/>
          </a:prstGeom>
          <a:solidFill>
            <a:srgbClr val="D3A72A"/>
          </a:solidFill>
          <a:ln w="12700">
            <a:solidFill>
              <a:srgbClr val="D3A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2161" y="3310128"/>
            <a:ext cx="5828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2430"/>
                </a:solidFill>
                <a:latin typeface="Noto Sans CJK SC"/>
              </a:rPr>
              <a:t>🟡</a:t>
            </a:r>
          </a:p>
          <a:p>
            <a:pPr algn="ctr"/>
            <a:r>
              <a:rPr sz="1200" b="1">
                <a:solidFill>
                  <a:srgbClr val="1F2430"/>
                </a:solidFill>
                <a:latin typeface="Noto Sans CJK SC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45017" y="3255264"/>
            <a:ext cx="889622" cy="256032"/>
          </a:xfrm>
          <a:prstGeom prst="rect">
            <a:avLst/>
          </a:prstGeom>
          <a:solidFill>
            <a:srgbClr val="C96B2C"/>
          </a:solidFill>
          <a:ln w="12700">
            <a:solidFill>
              <a:srgbClr val="C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5017" y="3310128"/>
            <a:ext cx="88962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🟠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39312"/>
            <a:ext cx="184708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68707E"/>
                </a:solidFill>
                <a:latin typeface="Noto Sans CJK SC"/>
              </a:rPr>
              <a:t>不是继续堆数量，而是把几条最硬的方法线讲清楚。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46120" y="1481328"/>
          <a:ext cx="8193024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97480"/>
                <a:gridCol w="3300984"/>
              </a:tblGrid>
              <a:tr h="749808"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Noto Sans CJK SC"/>
                        </a:rPr>
                        <a:t>代表论文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Noto Sans CJK SC"/>
                        </a:rPr>
                        <a:t>方法骨架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Noto Sans CJK SC"/>
                        </a:rPr>
                        <a:t>对 project_1 的启发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Structure/Event-Driven 2026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多步结构分解 + 事件分解 + Hybrid 细化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direct baseline 已经出现，问题不再是“有没有人做”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SysML empirical 2025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两阶段 prompting + model checking feedback repair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真正有效的是 feedback loop，而不是一次性 prompt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IEC 61499 2025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iterative refinement + simulator / code generation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一旦接上仿真与部署，方法性质就变了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TTool AI 2024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知识注入 + 工具链反馈 + MBSE 集成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基础设施与领域知识会明显抬高效果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Umple 2025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One-shot / RAG 生成文本 DSL；zero-shot 基本失败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F2430"/>
                          </a:solidFill>
                          <a:latin typeface="Noto Sans CJK SC"/>
                        </a:rPr>
                        <a:t>小而稳的文本 DSL 仍需要示例与 schema 支撑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86384" y="5212080"/>
            <a:ext cx="10661904" cy="530352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85816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203354"/>
                </a:solidFill>
                <a:latin typeface="Noto Sans CJK SC"/>
              </a:rPr>
              <a:t>页面结论：baseline 已经不是“有没有”，而是“该把哪几类方法差异和反馈路线讲清楚”。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baseline 的共同趋势不是更花的 prompt，而是更强的工具反馈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几篇最值得讲的绿色条目给出的实证指向相当一致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2618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2026 direct baseline F1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481328"/>
          <a:ext cx="342900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43400" y="12618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SysML empirical study 修复率 (%)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343400" y="1481328"/>
          <a:ext cx="342900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01000" y="1463040"/>
            <a:ext cx="3401568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1000" y="1463040"/>
            <a:ext cx="3401568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27632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TTool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039112"/>
            <a:ext cx="30723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状态机评分 63 vs 58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速度快 15.2x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块图评分 81 vs 70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速度快 67.5x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063240"/>
            <a:ext cx="3401568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3063240"/>
            <a:ext cx="3401568" cy="10972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227832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IEC 61499 / workflow principles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639312"/>
            <a:ext cx="30723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430"/>
                </a:solidFill>
                <a:latin typeface="Noto Sans CJK SC"/>
              </a:rPr>
              <a:t>一旦接上仿真、代码生成和 sanity checks，方法论就不再是一次 prompt。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846320"/>
            <a:ext cx="10698480" cy="822960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846320"/>
            <a:ext cx="10698480" cy="9144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974336"/>
            <a:ext cx="10405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Take-home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193792"/>
            <a:ext cx="10405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30" b="0">
                <a:solidFill>
                  <a:srgbClr val="1F2430"/>
                </a:solidFill>
                <a:latin typeface="Noto Sans CJK SC"/>
              </a:rPr>
              <a:t>纯 prompt 可以给出骨架，但真正把质量拉上去的，是 model checking、仿真、编译检查和 workflow feedback。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[12][13][14][16][17]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sources/ 不是自然分布样本，而是面向数据集建设的治理后主集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如果不先说明这一点，后面的统计就很容易被误读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70432"/>
            <a:ext cx="10698480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234440"/>
            <a:ext cx="640080" cy="256031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61872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1261872"/>
            <a:ext cx="449336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如果不先讲治理口径，后面所有 EFSM/HSM/T0/T1 的比例都会被误读成自然分布。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6987" y="1234440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6987" y="1261872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6795" y="1261872"/>
            <a:ext cx="363748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所以这一页先解释筛选逻辑，再看统计。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1664208"/>
            <a:ext cx="10698480" cy="804672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664208"/>
            <a:ext cx="10698480" cy="91440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792224"/>
            <a:ext cx="10405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011680"/>
            <a:ext cx="10405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80" b="0">
                <a:solidFill>
                  <a:srgbClr val="1F2430"/>
                </a:solidFill>
                <a:latin typeface="Noto Sans CJK SC"/>
              </a:rPr>
              <a:t>后面所有 EFSM / HSM / T0 / T1 的比例，首先反映的是收录策略与数据集治理目标，其次才是领域文献现象本身。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542032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治理流程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2761488"/>
            <a:ext cx="2560320" cy="8778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761488"/>
            <a:ext cx="2560320" cy="9144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2889504"/>
            <a:ext cx="2267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广撒网检索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108960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10" b="0">
                <a:solidFill>
                  <a:srgbClr val="1F2430"/>
                </a:solidFill>
                <a:latin typeface="Noto Sans CJK SC"/>
              </a:rPr>
              <a:t>先把真实控制系统状态逻辑的文献面铺开。</a:t>
            </a:r>
          </a:p>
        </p:txBody>
      </p:sp>
      <p:sp>
        <p:nvSpPr>
          <p:cNvPr id="25" name="Chevron 24"/>
          <p:cNvSpPr/>
          <p:nvPr/>
        </p:nvSpPr>
        <p:spPr>
          <a:xfrm>
            <a:off x="3474720" y="3035808"/>
            <a:ext cx="384048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13632" y="2761488"/>
            <a:ext cx="2560320" cy="8778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13632" y="2761488"/>
            <a:ext cx="2560320" cy="91440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9936" y="2889504"/>
            <a:ext cx="2267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标准化治理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936" y="3108960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10" b="0">
                <a:solidFill>
                  <a:srgbClr val="1F2430"/>
                </a:solidFill>
                <a:latin typeface="Noto Sans CJK SC"/>
              </a:rPr>
              <a:t>按论文级、案例级、主类型、时间级别等口径做筛。</a:t>
            </a:r>
          </a:p>
        </p:txBody>
      </p:sp>
      <p:sp>
        <p:nvSpPr>
          <p:cNvPr id="30" name="Chevron 29"/>
          <p:cNvSpPr/>
          <p:nvPr/>
        </p:nvSpPr>
        <p:spPr>
          <a:xfrm>
            <a:off x="6601968" y="3035808"/>
            <a:ext cx="384048" cy="310896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40880" y="2761488"/>
            <a:ext cx="2834640" cy="8778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0" y="2761488"/>
            <a:ext cx="2834640" cy="91440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2889504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主集保留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3108960"/>
            <a:ext cx="2542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10" b="0">
                <a:solidFill>
                  <a:srgbClr val="1F2430"/>
                </a:solidFill>
                <a:latin typeface="Noto Sans CJK SC"/>
              </a:rPr>
              <a:t>优先保留 EFSM/HSM、T0/T1、细节高、不强趋同的案例。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65760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五套治理口径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858768" y="3886200"/>
          <a:ext cx="75895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76072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 CJK SC"/>
                        </a:rPr>
                        <a:t>口径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 CJK SC"/>
                        </a:rPr>
                        <a:t>作用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论文级可用性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判断单篇论文整体上能否形成可靠样本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案例级角色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区分核心保留、清洗后保留、降采样保留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细节充实度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判断是否足以支撑高质量建模与评测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主类型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回答“默认应把它理解成哪类状态机”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时间级别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F2430"/>
                          </a:solidFill>
                          <a:latin typeface="Noto Sans CJK SC"/>
                        </a:rPr>
                        <a:t>回答时间语义到底只是局部 timer 还是强实时/连续耦合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786384" y="3886200"/>
            <a:ext cx="2743200" cy="1783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" y="3886200"/>
            <a:ext cx="274320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050791"/>
            <a:ext cx="24140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治理目标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462272"/>
            <a:ext cx="24140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优先保留 EFSM/HSM。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优先保留 T0/T1。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优先保留细节充实、可转为可执行样本的案例。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对强趋同簇做降采样控制。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[4][6]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09/20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sources/ 的总体统计已经足以支撑数据集和问题边界判断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统计项必须带定义列，否则数字没有解释力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133856"/>
            <a:ext cx="10735056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1197864"/>
            <a:ext cx="640080" cy="256031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225296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5" y="1225296"/>
            <a:ext cx="450872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样本主链已经够厚，不再是“先去找样本”的阶段。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602" y="1197864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602" y="1225296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410" y="1225296"/>
            <a:ext cx="36499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所以这页要把数量和定义一起说清楚。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1664208"/>
            <a:ext cx="2615184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1664208"/>
            <a:ext cx="128016" cy="96012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828800"/>
            <a:ext cx="2203703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03354"/>
                </a:solidFill>
                <a:latin typeface="Noto Serif CJK SC"/>
              </a:rPr>
              <a:t>787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304288"/>
            <a:ext cx="220370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Noto Sans CJK SC"/>
              </a:rPr>
              <a:t>论文总数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2560320"/>
            <a:ext cx="2203703" cy="-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07E"/>
                </a:solidFill>
                <a:latin typeface="Noto Sans CJK SC"/>
              </a:rPr>
              <a:t>正式入账论文目录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664208"/>
            <a:ext cx="2615184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720" y="1664208"/>
            <a:ext cx="128016" cy="960120"/>
          </a:xfrm>
          <a:prstGeom prst="roundRect">
            <a:avLst/>
          </a:prstGeom>
          <a:solidFill>
            <a:srgbClr val="3F8F6B"/>
          </a:solidFill>
          <a:ln w="12700">
            <a:solidFill>
              <a:srgbClr val="3F8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1828800"/>
            <a:ext cx="2203703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F8F6B"/>
                </a:solidFill>
                <a:latin typeface="Noto Serif CJK SC"/>
              </a:rPr>
              <a:t>715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2304288"/>
            <a:ext cx="220370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Noto Sans CJK SC"/>
              </a:rPr>
              <a:t>论文级 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2560320"/>
            <a:ext cx="2203703" cy="-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07E"/>
                </a:solidFill>
                <a:latin typeface="Noto Sans CJK SC"/>
              </a:rPr>
              <a:t>可直接支撑可靠样本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664208"/>
            <a:ext cx="2615184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1664208"/>
            <a:ext cx="128016" cy="960120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828800"/>
            <a:ext cx="2203703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D6F73"/>
                </a:solidFill>
                <a:latin typeface="Noto Serif CJK SC"/>
              </a:rPr>
              <a:t>746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304288"/>
            <a:ext cx="220370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Noto Sans CJK SC"/>
              </a:rPr>
              <a:t>正例案例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60320"/>
            <a:ext cx="2203703" cy="-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07E"/>
                </a:solidFill>
                <a:latin typeface="Noto Sans CJK SC"/>
              </a:rPr>
              <a:t>当前样本主链总量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7696" y="1664208"/>
            <a:ext cx="2615184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97696" y="1664208"/>
            <a:ext cx="128016" cy="960120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1828800"/>
            <a:ext cx="2203703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C8912C"/>
                </a:solidFill>
                <a:latin typeface="Noto Serif CJK SC"/>
              </a:rPr>
              <a:t>685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304288"/>
            <a:ext cx="220370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Noto Sans CJK SC"/>
              </a:rPr>
              <a:t>核心保留 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560320"/>
            <a:ext cx="2203703" cy="-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07E"/>
                </a:solidFill>
                <a:latin typeface="Noto Sans CJK SC"/>
              </a:rPr>
              <a:t>主数据集主链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2816352"/>
          <a:ext cx="5486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52044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Noto Sans CJK SC"/>
                        </a:rPr>
                        <a:t>指标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Noto Sans CJK SC"/>
                        </a:rPr>
                        <a:t>定义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Noto Sans CJK SC"/>
                        </a:rPr>
                        <a:t>数量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论文总数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当前 sources/ 已正式入账的论文目录总数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787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论文级 🟢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单篇论文整体上可直接支持可靠样本抽取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715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论文级 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单篇论文仍有价值，但需要额外整理或局部补证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16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论文级 ⚪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单篇论文最终未形成可靠样本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56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355080" y="2816352"/>
          <a:ext cx="5120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06324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Noto Sans CJK SC"/>
                        </a:rPr>
                        <a:t>类别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Noto Sans CJK SC"/>
                        </a:rPr>
                        <a:t>定义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Noto Sans CJK SC"/>
                        </a:rPr>
                        <a:t>数量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正例案例总数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正式入账、可作为控制状态样本讨论的案例条目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746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💎 核心保留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细节和分布都足够好，适合进入主数据集主链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685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🧰 清洗后保留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有价值，但需要进一步清洗、补证或统一口径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20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🪫 降采样保留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本身可用，但因分布控制原因不应过量进入主集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0">
                          <a:solidFill>
                            <a:srgbClr val="1F2430"/>
                          </a:solidFill>
                          <a:latin typeface="Noto Sans CJK SC"/>
                        </a:rPr>
                        <a:t>41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749808" y="5486400"/>
            <a:ext cx="10698480" cy="502920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8" y="5486400"/>
            <a:ext cx="10698480" cy="80467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603443"/>
            <a:ext cx="10405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3354"/>
                </a:solidFill>
                <a:latin typeface="Noto Serif CJK SC"/>
              </a:rPr>
              <a:t>Take-home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822899"/>
            <a:ext cx="10405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60" b="0">
                <a:solidFill>
                  <a:srgbClr val="1F2430"/>
                </a:solidFill>
                <a:latin typeface="Noto Sans CJK SC"/>
              </a:rPr>
              <a:t>主链样本已经够厚；现在真正该做的是围绕它定义论文对象、baseline 口径和可执行实验。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[4][6]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这些比例不能被读成自然分布，它们只能证明我们已经蓄了足够厚的目标样例池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后期 sources 是按 EFSM / HSM + T0 / T1 主动强筛出来的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115568"/>
            <a:ext cx="10625328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179576"/>
            <a:ext cx="640080" cy="256031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207008"/>
            <a:ext cx="4462637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如果把这些比例误读成自然分布，后面的结论就会站不住。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5773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773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5581" y="1207008"/>
            <a:ext cx="361261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所以这一页必须明确“能说什么、不能说什么”。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170078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A04B39"/>
                </a:solidFill>
                <a:latin typeface="Noto Sans CJK SC"/>
              </a:rPr>
              <a:t>不能这样解读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8096" y="1920240"/>
          <a:ext cx="498348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3630168"/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 CJK SC"/>
                        </a:rPr>
                        <a:t>误读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 CJK SC"/>
                        </a:rPr>
                        <a:t>为什么不成立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F2430"/>
                          </a:solidFill>
                          <a:latin typeface="Noto Sans CJK SC"/>
                        </a:rPr>
                        <a:t>“EFSM 最多”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F2430"/>
                          </a:solidFill>
                          <a:latin typeface="Noto Sans CJK SC"/>
                        </a:rPr>
                        <a:t>不能推出控制系统文献天然以 EFSM 为主；这里只能说明我们后期主动把 EFSM/HSM 样例筛得更厚。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F2430"/>
                          </a:solidFill>
                          <a:latin typeface="Noto Sans CJK SC"/>
                        </a:rPr>
                        <a:t>“T0/T1 最多”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F2430"/>
                          </a:solidFill>
                          <a:latin typeface="Noto Sans CJK SC"/>
                        </a:rPr>
                        <a:t>不能推出真实系统几乎没有强时间 / 连续问题；这里只能说明 project_1 当前主池刻意优先保留这两类。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F2430"/>
                          </a:solidFill>
                          <a:latin typeface="Noto Sans CJK SC"/>
                        </a:rPr>
                        <a:t>“429 / 157 / 127 就是总体分布”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F2430"/>
                          </a:solidFill>
                          <a:latin typeface="Noto Sans CJK SC"/>
                        </a:rPr>
                        <a:t>sources 是治理后的主样例池，不是为替整个领域做分布统计而建。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89320" y="170078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03354"/>
                </a:solidFill>
                <a:latin typeface="Noto Sans CJK SC"/>
              </a:rPr>
              <a:t>可以这样解读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61888" y="1920240"/>
          <a:ext cx="544068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572768"/>
                <a:gridCol w="2167128"/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可以这样说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证据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为什么重要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目标样例池已经够厚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FSM 127 / EFSM 429 / HSM 157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足以支撑 project_1 的数据集与评测设计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局部时间样例已经充足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T0 + T1 = 719 / 746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第一篇 paper 可以先收束到离散 control-state + local timing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收束对象不等于样例贫瘠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显式时钟 243 / 层次 160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目标形式主义仍需保留 hierarchy、guard 与局部 timer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86384" y="5596128"/>
            <a:ext cx="10607040" cy="411480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D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724144"/>
            <a:ext cx="10241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203354"/>
                </a:solidFill>
                <a:latin typeface="Noto Sans CJK SC"/>
              </a:rPr>
              <a:t>结论：sources 的价值在于“样例池够厚”，不是“替整个领域做分布统计”。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这个定向样例池依然不是“简单平面 FSM 池”，它保留了层次、定时和恢复复杂度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收敛对象不等于退化对象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15568"/>
            <a:ext cx="10643616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179576"/>
            <a:ext cx="640080" cy="256031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1207008"/>
            <a:ext cx="447031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如果把目标收束误读成“只做最简单 FSM”，后面 pyfcstm 的定位也会被说扁。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7360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736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7168" y="1207008"/>
            <a:ext cx="361882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所以这一页要强调池子里的结构复杂度。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9808" y="1664208"/>
          <a:ext cx="10661904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2816352"/>
                <a:gridCol w="2743200"/>
                <a:gridCol w="3931920"/>
              </a:tblGrid>
              <a:tr h="727862"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主模式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定义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为什么重要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当前证据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727862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阶段链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系统按步骤推进，每一步由 guard / timer 决定下一段。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这是离散顺序控制最常见的结构骨架。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洗衣机 PLC、电梯 PLC；T0/T1 合计 719 / 746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727862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联锁许可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动作是否允许由权限、互斥、锁闭、到位条件共同决定。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说明 guard 与变量面不能只是附属装饰。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铁路联锁、门控控制；显式时钟 243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727862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模式层次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上层模式管理下层子阶段、子任务或执行层。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目标 DSL 至少要保留 hierarchy。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层次样例 160；UAV supervisor 等 HSM 案例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727864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异常恢复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fault -&gt; safe fallback -&gt; reset / recovery 构成专门链路。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模型不能只覆盖 happy path。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sources 中恢复链与异常保护样例长期高频出现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49808" y="5394960"/>
          <a:ext cx="10661904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60120"/>
                <a:gridCol w="8375904"/>
              </a:tblGrid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Noto Sans CJK SC"/>
                        </a:rPr>
                        <a:t>结构证据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Noto Sans CJK SC"/>
                        </a:rPr>
                        <a:t>数量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Noto Sans CJK SC"/>
                        </a:rPr>
                        <a:t>含义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层次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160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离散 control-state 仍大量包含父子模式关系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显式时钟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243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局部 timer / 时钟条件并不是少数样例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T0 + T1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719 / 746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当前主问题可先稳定收束到离散 control-state + local timing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49808" y="6053328"/>
            <a:ext cx="10661904" cy="292608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6135624"/>
            <a:ext cx="102412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203354"/>
                </a:solidFill>
                <a:latin typeface="Noto Sans CJK SC"/>
              </a:rPr>
              <a:t>结论：收敛对象 = 离散 control-state，不 = 简单平面 FSM；目标形式主义至少要能承载 EFSM + HSM + local timing。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[4][6]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代表样本显示：真实控制系统里至少并存五类不同建模难点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同样都叫“状态机”，但它们的主难点并不相同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15568"/>
            <a:ext cx="10652760" cy="566928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115568"/>
            <a:ext cx="10652760" cy="9070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42852"/>
            <a:ext cx="10360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462308"/>
            <a:ext cx="10360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40" b="0">
                <a:solidFill>
                  <a:srgbClr val="1F2430"/>
                </a:solidFill>
                <a:latin typeface="Noto Sans CJK SC"/>
              </a:rPr>
              <a:t>这些样本不是用来“凑例子”，而是用来证明“状态机”一词背后其实罩着不同问题，因此论文对象必须主动收束。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9808" y="1847088"/>
          <a:ext cx="1065276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3154680"/>
                <a:gridCol w="4663440"/>
              </a:tblGrid>
              <a:tr h="6278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标签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关键建模难点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对论文对象的启发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洗衣机 PLC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EFSM / T1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阶段链 + timer + guard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真实工业控制里“阶段 + timer”是高频对象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电梯 PLC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EFSM / T1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请求队列、方向优先、门控时长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顺序控制与门控规则构成主问题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铁路联锁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Resource / T1-T2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资源互斥、锁闭、释放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有些“状态机”本质上更像强 guard / 资源系统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UAV 分层任务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HSM / T0-T1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mission supervisor + 子层任务控制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层次任务控制是另一条高频主线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外骨骼步态控制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Hybrid / T3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连续相变量与模式切换强耦合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确实存在第二类连续/混成问题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73952" y="5321808"/>
            <a:ext cx="4901184" cy="713232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5321808"/>
            <a:ext cx="4901184" cy="91440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5449824"/>
            <a:ext cx="4608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03354"/>
                </a:solidFill>
                <a:latin typeface="Noto Serif CJK SC"/>
              </a:rPr>
              <a:t>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5669280"/>
            <a:ext cx="4608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60" b="0">
                <a:solidFill>
                  <a:srgbClr val="1F2430"/>
                </a:solidFill>
                <a:latin typeface="Noto Sans CJK SC"/>
              </a:rPr>
              <a:t>离散顺序控制、层次任务、资源互锁、连续耦合至少是四类不同问题。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[4][6]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文库证据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state_machine_types 给出的启发不是“谁最多”，而是贡献点可以落在 profile / DSL /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现代状态机研究越来越像“选择并塑造目标对象”，而不是假定唯一标准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115568"/>
            <a:ext cx="10625328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179576"/>
            <a:ext cx="640080" cy="256031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207008"/>
            <a:ext cx="4462637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既然“状态机”本来就是家族，project_1 就不能假装目标对象天然唯一。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5773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773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5581" y="1207008"/>
            <a:ext cx="361261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所以必须主动选 control-state + infrastructure 这条分支。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68096" y="1700784"/>
          <a:ext cx="5230367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011680"/>
                <a:gridCol w="1892807"/>
              </a:tblGrid>
              <a:tr h="782726"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主分支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解决的复杂度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5" b="1">
                          <a:solidFill>
                            <a:srgbClr val="FFFFFF"/>
                          </a:solidFill>
                          <a:latin typeface="Noto Sans CJK SC"/>
                        </a:rPr>
                        <a:t>代表对象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control-state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模式、阶段、guard、层次组织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FSM / EFSM / HSM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timed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时钟、deadline、最小/最大持续时间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Timed Automata / clocks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782726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hybrid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连续动力学与离散切换耦合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Hybrid Automata / CPS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782728"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interaction-resource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资源互斥、契约组合、并发同步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5" b="0">
                          <a:solidFill>
                            <a:srgbClr val="1F2430"/>
                          </a:solidFill>
                          <a:latin typeface="Noto Sans CJK SC"/>
                        </a:rPr>
                        <a:t>Petri / Interface / contract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81344" y="1700784"/>
          <a:ext cx="5212080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2743200"/>
              </a:tblGrid>
              <a:tr h="97840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Noto Sans CJK SC"/>
                        </a:rPr>
                        <a:t>贡献形态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Noto Sans CJK SC"/>
                        </a:rPr>
                        <a:t>当前证据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Noto Sans CJK SC"/>
                        </a:rPr>
                        <a:t>对 project_1 的意义</a:t>
                      </a:r>
                    </a:p>
                  </a:txBody>
                  <a:tcPr anchor="ctr" marL="76200" marR="76200" marT="50800" marB="50800">
                    <a:solidFill>
                      <a:srgbClr val="1D6F73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DSL / target profile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59 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目标对象设计本身就是学术贡献位点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标准 / 元模型 / 交换载体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264 条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工程上更关心可承载、可互操作、可执行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2010+ 非模型层增量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82.6%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F2430"/>
                          </a:solidFill>
                          <a:latin typeface="Noto Sans CJK SC"/>
                        </a:rPr>
                        <a:t>现代增量大量发生在 runtime / bridge / workbench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8096" y="5669280"/>
            <a:ext cx="10625328" cy="310896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D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760720"/>
            <a:ext cx="102412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1">
                <a:solidFill>
                  <a:srgbClr val="203354"/>
                </a:solidFill>
                <a:latin typeface="Noto Sans CJK SC"/>
              </a:rPr>
              <a:t>结论：project_1 的贡献不一定是再发明一种“全新状态机”，也可以是主动选定并塑造一类更适合任务的 profile。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[5][7]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project_1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我们要解的是控制系统的离散 control-state layer，而不是所有状态机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模式组织、联锁 guard、异常恢复、事件权限和局部 timer 才是当前主问题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15568"/>
            <a:ext cx="10643616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179576"/>
            <a:ext cx="640080" cy="256031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1207008"/>
            <a:ext cx="447031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“控制系统状态机”这个词太大，如果不拆开，第一篇 paper 就会同时背上离散、timed、hybrid 三类问题。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7360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736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7168" y="1207008"/>
            <a:ext cx="361882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所以这里先把当前最稳定、最可执行、最可验证的 control-state 语义块钉出来。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9808" y="1682496"/>
          <a:ext cx="1065276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3794760"/>
                <a:gridCol w="2834640"/>
              </a:tblGrid>
              <a:tr h="572153"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FFFFF"/>
                          </a:solidFill>
                          <a:latin typeface="Noto Sans CJK SC"/>
                        </a:rPr>
                        <a:t>语义块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FFFFF"/>
                          </a:solidFill>
                          <a:latin typeface="Noto Sans CJK SC"/>
                        </a:rPr>
                        <a:t>工程含义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FFFFF"/>
                          </a:solidFill>
                          <a:latin typeface="Noto Sans CJK SC"/>
                        </a:rPr>
                        <a:t>为什么是第一篇 paper 的主问题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FFFFF"/>
                          </a:solidFill>
                          <a:latin typeface="Noto Sans CJK SC"/>
                        </a:rPr>
                        <a:t>pyfcstm 当前承载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模式层次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系统有上层 mode 与下层子阶段 / 子任务。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控制系统最常见的结构复杂度来自 hierarchy，而不是抽象图形语法。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可直接承载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联锁 guard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动作是否允许取决于权限、互斥、到位、锁闭等条件。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决定变量、guard、effect 必须成为一等建模对象。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可直接承载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故障与恢复链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fault、fallback、reset、recover 构成专门路径。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控制逻辑不能只覆盖 happy path。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可直接承载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事件作用域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同一事件只在某些模式 / 边界上才有效。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这是 hierarchy 与 control-state 语义的核心交点。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可直接承载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72153"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生命周期动作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enter / during / exit 负责阶段切面与局部行为。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比“普通状态机画图”更贴近真实控制逻辑。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可直接承载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72154"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局部工程定时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延时保持、watchdog、最小停留等局部 timer。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第一篇 paper 需要承认 local timing，但不必先吞下完整 TA / hybrid 家族。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0">
                          <a:solidFill>
                            <a:srgbClr val="1F2430"/>
                          </a:solidFill>
                          <a:latin typeface="Noto Sans CJK SC"/>
                        </a:rPr>
                        <a:t>部分承载；强实时仍待后续映射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49808" y="5797296"/>
            <a:ext cx="10652760" cy="310896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DC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888736"/>
            <a:ext cx="102412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203354"/>
                </a:solidFill>
                <a:latin typeface="Noto Sans CJK SC"/>
              </a:rPr>
              <a:t>结论：第一篇 paper 先解这六类 control-state 语义；连续 / 混成控制的问题承认其重要性，但放到后续延展更稳。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[4][5][6][7]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在 STM 语境下，pyfcstm 更像一个收窄后的 control-state DSL，而不是大而全状态机工具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最该重点比较的是 Umple / UmpleRun 这条文本状态机生态，而不是泛泛说“它像状态图”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207008"/>
            <a:ext cx="10643616" cy="4754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53312"/>
            <a:ext cx="10241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03354"/>
                </a:solidFill>
                <a:latin typeface="Noto Sans CJK SC"/>
              </a:rPr>
              <a:t>一句话定位：sequential HSM 骨架 + EFSM 数据面 + 确定执行语义的 executable control-state DSL。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8096" y="1847088"/>
          <a:ext cx="10643616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148840"/>
                <a:gridCol w="2651760"/>
                <a:gridCol w="4517136"/>
              </a:tblGrid>
              <a:tr h="577378">
                <a:tc>
                  <a:txBody>
                    <a:bodyPr/>
                    <a:lstStyle/>
                    <a:p>
                      <a:pPr algn="ctr"/>
                      <a:r>
                        <a:rPr sz="875" b="1">
                          <a:solidFill>
                            <a:srgbClr val="FFFFFF"/>
                          </a:solidFill>
                          <a:latin typeface="Noto Sans CJK SC"/>
                        </a:rPr>
                        <a:t>近邻对象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5" b="1">
                          <a:solidFill>
                            <a:srgbClr val="FFFFFF"/>
                          </a:solidFill>
                          <a:latin typeface="Noto Sans CJK SC"/>
                        </a:rPr>
                        <a:t>它在 STM 文库里做什么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5" b="1">
                          <a:solidFill>
                            <a:srgbClr val="FFFFFF"/>
                          </a:solidFill>
                          <a:latin typeface="Noto Sans CJK SC"/>
                        </a:rPr>
                        <a:t>与 pyfcstm 的相似点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5" b="1">
                          <a:solidFill>
                            <a:srgbClr val="FFFFFF"/>
                          </a:solidFill>
                          <a:latin typeface="Noto Sans CJK SC"/>
                        </a:rPr>
                        <a:t>关键差异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</a:tr>
              <a:tr h="577378"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HSM / Statecharts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层次控制与复合状态的家族血缘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都把 hierarchy 当结构骨架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pyfcstm 主动收窄语义面，不追求完整并发 / history / 广播语义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77378"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Umple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文本化 UML / 复合状态机 DSL 与代码生成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都强调文本状态机、层次、guard / action 与可执行工件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Umple 更偏 UML 文本承载与 Java/C++ 代码生成；pyfcstm 更强调 control-state profile 与 formal core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77378"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UmpleRun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Umple 生态里的 execution-scenario 动态验证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都说明文本状态机可以直接接反馈闭环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UmpleRun 依赖 Umple -&gt; Java/JAR -&gt; scenario；pyfcstm 直接把 parser、runtime、symbolic core 放在同一内核里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77378"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SCXML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标准化 executable state machine / interchange 载体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都属于可执行层次状态机文本承载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SCXML 语义面更宽，含 queue、parallel、history、invoke/send；pyfcstm 更窄、更偏 control-state 闭核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77378"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Sismic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statechart runtime / testing 路线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都强调 executable state machine 与测试反馈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Sismic 更像 Python runtime；pyfcstm 更强调形式化核心与外部副作用隔离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77380"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UPPAAL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timed automata / verification backend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都和后续验证闭环强相关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75" b="0">
                          <a:solidFill>
                            <a:srgbClr val="1F2430"/>
                          </a:solidFill>
                          <a:latin typeface="Noto Sans CJK SC"/>
                        </a:rPr>
                        <a:t>UPPAAL 属于 clocks / invariants / symbolic reachability 家族；pyfcstm 当前仍是 control-state DSL 本体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8096" y="5980176"/>
            <a:ext cx="10643616" cy="146304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6007608"/>
            <a:ext cx="10241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203354"/>
                </a:solidFill>
                <a:latin typeface="Noto Sans CJK SC"/>
              </a:rPr>
              <a:t>结论：pyfcstm 的辨识度来自“窄 profile + 闭 formal core”，而不是“大而全兼容”。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[5][7][8]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pyfcstm 的研究价值，在于把目标形式主义、执行语义和闭环接口一起做出来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它不是附属工具，而是 project_1 的核心研究产出之一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207008"/>
            <a:ext cx="10625328" cy="4572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44168"/>
            <a:ext cx="10241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03354"/>
                </a:solidFill>
                <a:latin typeface="Noto Sans CJK SC"/>
              </a:rPr>
              <a:t>它不是“又做了一个状态机工具”，而是在回答：应该生成什么对象、为什么它能立刻运行、以及为什么它能继续接向验证与修复闭环。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8096" y="1847088"/>
          <a:ext cx="51206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611880"/>
              </a:tblGrid>
              <a:tr h="633984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Noto Sans CJK SC"/>
                        </a:rPr>
                        <a:t>贡献点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Noto Sans CJK SC"/>
                        </a:rPr>
                        <a:t>真正回答的问题</a:t>
                      </a:r>
                    </a:p>
                  </a:txBody>
                  <a:tcPr anchor="ctr" marL="76200" marR="76200" marT="50800" marB="50800">
                    <a:solidFill>
                      <a:srgbClr val="203354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target profile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LLM 应该生成什么对象，而不是任意 UML / SCXML 子集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executable semantics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为什么生成结果一落地就能跑起来，而不是只是一张图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formal core boundary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哪些语义留在模型核心里，哪些必须外挂给 abstract action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executable model output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输出对象为何从状态图升级成可执行形式模型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unified analysis-ready substrate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F2430"/>
                          </a:solidFill>
                          <a:latin typeface="Noto Sans CJK SC"/>
                        </a:rPr>
                        <a:t>为什么它能继续接 parser / runtime / verification hooks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2784" y="1847088"/>
          <a:ext cx="51206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600200"/>
                <a:gridCol w="2468880"/>
              </a:tblGrid>
              <a:tr h="633984"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Noto Sans CJK SC"/>
                        </a:rPr>
                        <a:t>当前能力层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Noto Sans CJK SC"/>
                        </a:rPr>
                        <a:t>已有落地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Noto Sans CJK SC"/>
                        </a:rPr>
                        <a:t>为什么重要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parser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DSL 解析 + 结构校验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保证目标对象不是松散文本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runtime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cycle、stable-boundary、rollback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为仿真与反馈提供确定执行边界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symbolic expr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表达式到 Z3、symbolic execution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为后续 analysis-ready 路线预埋接口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codegen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Python / C 模板与生成路线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让模型能继续落向实现侧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tooling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PlantUML、文档、教程、编辑器支持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1F2430"/>
                          </a:solidFill>
                          <a:latin typeface="Noto Sans CJK SC"/>
                        </a:rPr>
                        <a:t>让它成为可维护对象而不是 demo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8096" y="5742432"/>
            <a:ext cx="10625328" cy="310896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843016"/>
            <a:ext cx="10241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203354"/>
                </a:solidFill>
                <a:latin typeface="Noto Sans CJK SC"/>
              </a:rPr>
              <a:t>结论：pyfcstm 是 project_1 对“应该生成什么、怎样立刻可用、如何继续进闭环”的研究性回答。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[7][8]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project_3 的实质推进主要在 pyudbm，但核心搜索仍缺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backend 不是空白，只是还没长成第一版 profile-guided verifier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15568"/>
            <a:ext cx="10643616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179576"/>
            <a:ext cx="640080" cy="256031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1207008"/>
            <a:ext cx="447031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project_3 很容易被看成“目录还空，所以几乎没动”。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7360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736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7168" y="1207008"/>
            <a:ext cx="361882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所以这页要把“地基已做很多”和“完整 verifier 仍未成型”分开说。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1609344"/>
            <a:ext cx="210312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609344"/>
            <a:ext cx="128016" cy="93268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773936"/>
            <a:ext cx="16916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A04B39"/>
                </a:solidFill>
                <a:latin typeface="Noto Serif CJK SC"/>
              </a:rPr>
              <a:t>a8d0649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249424"/>
            <a:ext cx="1691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Noto Sans CJK SC"/>
              </a:rPr>
              <a:t>main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505456"/>
            <a:ext cx="1691639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07E"/>
                </a:solidFill>
                <a:latin typeface="Noto Sans CJK SC"/>
              </a:rPr>
              <a:t>本地 clone 于 ~/oo-projects/pyudbm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2697480"/>
            <a:ext cx="2834640" cy="4754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834640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F2430"/>
                </a:solidFill>
                <a:latin typeface="Noto Sans CJK SC"/>
              </a:rPr>
              <a:t>符号核  |  UDBM API 与 UCDD 路线已立住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3282696"/>
            <a:ext cx="3145536" cy="4754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419856"/>
            <a:ext cx="2871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F2430"/>
                </a:solidFill>
                <a:latin typeface="Noto Sans CJK SC"/>
              </a:rPr>
              <a:t>模型前端  |  UTAP 绑定与 query 接口已接通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3867912"/>
            <a:ext cx="3456432" cy="4754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005072"/>
            <a:ext cx="3182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F2430"/>
                </a:solidFill>
                <a:latin typeface="Noto Sans CJK SC"/>
              </a:rPr>
              <a:t>query + corpus  |  roundtrip 与 178 个官方样本已成体系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4453128"/>
            <a:ext cx="3767328" cy="4754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590288"/>
            <a:ext cx="3493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F2430"/>
                </a:solidFill>
                <a:latin typeface="Noto Sans CJK SC"/>
              </a:rPr>
              <a:t>文献与路线  |  TA / UPPAAL 阅读地图持续维护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623560" y="1719072"/>
          <a:ext cx="576072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3200400"/>
              </a:tblGrid>
              <a:tr h="54602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层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已有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SC"/>
                        </a:rPr>
                        <a:t>仍缺 / 影响</a:t>
                      </a:r>
                    </a:p>
                  </a:txBody>
                  <a:tcPr anchor="ctr" marL="76200" marR="76200" marT="50800" marB="50800">
                    <a:solidFill>
                      <a:srgbClr val="A04B39"/>
                    </a:solidFill>
                  </a:tcPr>
                </a:tc>
              </a:tr>
              <a:tr h="54602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基础符号层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已有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不是主要瓶颈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4602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模型 / query 接口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已有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官方样本和 roundtrip 已成体系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4602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symbolic reachability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仍缺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无法形成真正 verifier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4602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A[] / E&lt;&gt; 求值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仍缺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性质检查闭环还接不上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  <a:tr h="54602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witness / counterexample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仍缺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反馈链条不完整</a:t>
                      </a:r>
                    </a:p>
                  </a:txBody>
                  <a:tcPr anchor="ctr" marL="76200" marR="76200" marT="50800" marB="50800">
                    <a:solidFill>
                      <a:srgbClr val="FFFDFC"/>
                    </a:solidFill>
                  </a:tcPr>
                </a:tc>
              </a:tr>
              <a:tr h="5460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verifyta 核心搜索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仍缺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430"/>
                          </a:solidFill>
                          <a:latin typeface="Noto Sans CJK SC"/>
                        </a:rPr>
                        <a:t>这才是 project_3 真正未过的门槛</a:t>
                      </a:r>
                    </a:p>
                  </a:txBody>
                  <a:tcPr anchor="ctr" marL="76200" marR="76200" marT="50800" marB="50800">
                    <a:solidFill>
                      <a:srgbClr val="F0EBE2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68096" y="5504688"/>
            <a:ext cx="10625328" cy="676656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" y="5504688"/>
            <a:ext cx="10625328" cy="91440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32703"/>
            <a:ext cx="103327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03354"/>
                </a:solidFill>
                <a:latin typeface="Noto Serif CJK SC"/>
              </a:rPr>
              <a:t>页面结论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52159"/>
            <a:ext cx="10332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project_3 现在最合理的定位，是继续让 pyudbm 沉淀 timed backend，而不是抢在 project_1 之前承担主投稿。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[9][10][11]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我越来越相信基础设施反馈才是 LLM-based modeling 的真正杀手锏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parser、runtime、simulation、model checking 和 regression traceability 会把问题性质彻底改变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115568"/>
            <a:ext cx="10643616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179576"/>
            <a:ext cx="640080" cy="256031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1207008"/>
            <a:ext cx="447031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单次生成很快会碰到 action、语义一致性和可执行性瓶颈。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7360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736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7168" y="1207008"/>
            <a:ext cx="361882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所以真正把质量拉高的，不是 prompt 花样，而是反馈基础设施。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212848"/>
            <a:ext cx="5623560" cy="19933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2542032"/>
            <a:ext cx="1005840" cy="512064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51760"/>
            <a:ext cx="1005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472" y="2542032"/>
            <a:ext cx="1417320" cy="512064"/>
          </a:xfrm>
          <a:prstGeom prst="roundRect">
            <a:avLst/>
          </a:prstGeom>
          <a:solidFill>
            <a:srgbClr val="DCEDEA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651760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control-state</a:t>
            </a:r>
          </a:p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DSL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2542032"/>
            <a:ext cx="1417320" cy="512064"/>
          </a:xfrm>
          <a:prstGeom prst="roundRect">
            <a:avLst/>
          </a:prstGeom>
          <a:solidFill>
            <a:srgbClr val="DDE9E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2651760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parser /</a:t>
            </a:r>
          </a:p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runtime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6832" y="3182112"/>
            <a:ext cx="1600200" cy="585216"/>
          </a:xfrm>
          <a:prstGeom prst="roundRect">
            <a:avLst/>
          </a:prstGeom>
          <a:solidFill>
            <a:srgbClr val="F2E4DE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3291840"/>
            <a:ext cx="1600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simulator /</a:t>
            </a:r>
          </a:p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checker /</a:t>
            </a:r>
          </a:p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182112"/>
            <a:ext cx="1600200" cy="585216"/>
          </a:xfrm>
          <a:prstGeom prst="roundRect">
            <a:avLst/>
          </a:prstGeom>
          <a:solidFill>
            <a:srgbClr val="E3EBDD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291840"/>
            <a:ext cx="1600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structured</a:t>
            </a:r>
          </a:p>
          <a:p>
            <a:pPr algn="ctr"/>
            <a:r>
              <a:rPr sz="1030" b="1">
                <a:solidFill>
                  <a:srgbClr val="1F2430"/>
                </a:solidFill>
                <a:latin typeface="Noto Sans CJK SC"/>
              </a:rPr>
              <a:t>feedback</a:t>
            </a:r>
          </a:p>
        </p:txBody>
      </p:sp>
      <p:sp>
        <p:nvSpPr>
          <p:cNvPr id="27" name="Chevron 26"/>
          <p:cNvSpPr/>
          <p:nvPr/>
        </p:nvSpPr>
        <p:spPr>
          <a:xfrm>
            <a:off x="4645152" y="2697480"/>
            <a:ext cx="219456" cy="201168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6382512" y="2697480"/>
            <a:ext cx="219456" cy="201168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7205472" y="2999232"/>
            <a:ext cx="201168" cy="201168"/>
          </a:xfrm>
          <a:prstGeom prst="downArrow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6291072" y="3419856"/>
            <a:ext cx="237744" cy="201168"/>
          </a:xfrm>
          <a:prstGeom prst="leftArrow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4005072" y="2852928"/>
            <a:ext cx="201168" cy="329184"/>
          </a:xfrm>
          <a:prstGeom prst="upArrow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8" y="1664208"/>
            <a:ext cx="2103120" cy="10241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1664208"/>
            <a:ext cx="210312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1828800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2026 direct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240280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0.7029 vs 0.5431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Hybrid 流程能拉回弱模型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1664208"/>
            <a:ext cx="2057400" cy="10789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1664208"/>
            <a:ext cx="2057400" cy="10972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1472" y="1828800"/>
            <a:ext cx="17282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SysML empirical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2240280"/>
            <a:ext cx="1728216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94.6 / 88.0 / 43.1 / 37.3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规则反馈有效，但还不够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4297680"/>
            <a:ext cx="2103120" cy="10241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4297680"/>
            <a:ext cx="2103120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462272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TTool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873752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63 vs 58，15.2x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81 vs 70，67.5x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4224528"/>
            <a:ext cx="205740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26880" y="4224528"/>
            <a:ext cx="2057400" cy="10972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2" y="4389120"/>
            <a:ext cx="17282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workflow principles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4800600"/>
            <a:ext cx="17282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可信 GenAI 依赖 decomposition + checks + traceability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80360" y="4956048"/>
            <a:ext cx="6492240" cy="804672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880360" y="4956048"/>
            <a:ext cx="6492240" cy="91440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26664" y="5084064"/>
            <a:ext cx="619963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Take-home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26664" y="5303520"/>
            <a:ext cx="6199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80" b="0">
                <a:solidFill>
                  <a:srgbClr val="1F2430"/>
                </a:solidFill>
                <a:latin typeface="Noto Sans CJK SC"/>
              </a:rPr>
              <a:t>与其继续拼 prompt，不如把模型输出放进能持续打分、回传反例、约束格式和校验语义的环境里。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[12][13][14][16][17]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solidFill>
            <a:srgbClr val="F6ECD8"/>
          </a:solidFill>
          <a:ln>
            <a:solidFill>
              <a:srgbClr val="F6E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37760"/>
            <a:ext cx="2560320" cy="2560320"/>
          </a:xfrm>
          <a:prstGeom prst="ellipse">
            <a:avLst/>
          </a:prstGeom>
          <a:solidFill>
            <a:srgbClr val="DDE9EE"/>
          </a:solidFill>
          <a:ln>
            <a:solidFill>
              <a:srgbClr val="DD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97312" y="201168"/>
            <a:ext cx="1234440" cy="310896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97312" y="2286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待拍板事项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"/>
            <a:ext cx="98755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03354"/>
                </a:solidFill>
                <a:latin typeface="Noto Serif CJK SC"/>
              </a:rPr>
              <a:t>如果明天拍板这五件事，后续 6 周的推进路径会更稳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786384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07E"/>
                </a:solidFill>
                <a:latin typeface="Noto Sans CJK SC"/>
              </a:rPr>
              <a:t>收束问题对象、拉厚实验、准备 ESEM / rolling journal 后手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115568"/>
            <a:ext cx="10625328" cy="384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前因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207008"/>
            <a:ext cx="4462637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如果前面几项关键判断不能拍板，后面 6 周就会继续分散推进。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5773" y="1179576"/>
            <a:ext cx="640080" cy="256031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773" y="1207008"/>
            <a:ext cx="640080" cy="237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430"/>
                </a:solidFill>
                <a:latin typeface="Noto Sans CJK SC"/>
              </a:rPr>
              <a:t>因此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5581" y="1207008"/>
            <a:ext cx="361261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F2430"/>
                </a:solidFill>
                <a:latin typeface="Noto Sans CJK SC"/>
              </a:rPr>
              <a:t>所以这一页把倒排计划和待确认问题放在一起。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160934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03354"/>
                </a:solidFill>
                <a:latin typeface="Noto Sans CJK SC"/>
              </a:rPr>
              <a:t>6 周倒排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1847088"/>
            <a:ext cx="32461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1847088"/>
            <a:ext cx="3246120" cy="91440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975104"/>
            <a:ext cx="2953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第 1-2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194560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20" b="0">
                <a:solidFill>
                  <a:srgbClr val="1F2430"/>
                </a:solidFill>
                <a:latin typeface="Noto Sans CJK SC"/>
              </a:rPr>
              <a:t>收束问题定义与论文主张</a:t>
            </a:r>
          </a:p>
        </p:txBody>
      </p:sp>
      <p:sp>
        <p:nvSpPr>
          <p:cNvPr id="21" name="Chevron 20"/>
          <p:cNvSpPr/>
          <p:nvPr/>
        </p:nvSpPr>
        <p:spPr>
          <a:xfrm>
            <a:off x="4123944" y="2103120"/>
            <a:ext cx="347472" cy="292608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98264" y="1847088"/>
            <a:ext cx="32461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98264" y="1847088"/>
            <a:ext cx="3246120" cy="91440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1975104"/>
            <a:ext cx="2953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第 3-4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194560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20" b="0">
                <a:solidFill>
                  <a:srgbClr val="1F2430"/>
                </a:solidFill>
                <a:latin typeface="Noto Sans CJK SC"/>
              </a:rPr>
              <a:t>固化样本与 baseline 实验</a:t>
            </a:r>
          </a:p>
        </p:txBody>
      </p:sp>
      <p:sp>
        <p:nvSpPr>
          <p:cNvPr id="26" name="Chevron 25"/>
          <p:cNvSpPr/>
          <p:nvPr/>
        </p:nvSpPr>
        <p:spPr>
          <a:xfrm>
            <a:off x="7735824" y="2103120"/>
            <a:ext cx="347472" cy="292608"/>
          </a:xfrm>
          <a:prstGeom prst="chevron">
            <a:avLst/>
          </a:prstGeom>
          <a:solidFill>
            <a:srgbClr val="D8C4A3"/>
          </a:solidFill>
          <a:ln>
            <a:solidFill>
              <a:srgbClr val="D8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0144" y="1847088"/>
            <a:ext cx="32461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10144" y="1847088"/>
            <a:ext cx="3246120" cy="91440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1975104"/>
            <a:ext cx="2953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03354"/>
                </a:solidFill>
                <a:latin typeface="Noto Serif CJK SC"/>
              </a:rPr>
              <a:t>第 5-6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194560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20" b="0">
                <a:solidFill>
                  <a:srgbClr val="1F2430"/>
                </a:solidFill>
                <a:latin typeface="Noto Sans CJK SC"/>
              </a:rPr>
              <a:t>完成初稿并锁定 ESEM / journal 后手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3108960"/>
            <a:ext cx="269748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" y="3108960"/>
            <a:ext cx="269748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3273552"/>
            <a:ext cx="23682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决策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685032"/>
            <a:ext cx="23682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主投稿是否锁定 project_1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108960"/>
            <a:ext cx="269748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03320" y="3108960"/>
            <a:ext cx="2697480" cy="109728"/>
          </a:xfrm>
          <a:prstGeom prst="roundRect">
            <a:avLst/>
          </a:prstGeom>
          <a:solidFill>
            <a:srgbClr val="1D6F73"/>
          </a:solidFill>
          <a:ln w="12700">
            <a:solidFill>
              <a:srgbClr val="1D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7911" y="3273552"/>
            <a:ext cx="23682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决策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7911" y="3685032"/>
            <a:ext cx="23682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对象是否先限于离散控制状态层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0256" y="3108960"/>
            <a:ext cx="269748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0256" y="3108960"/>
            <a:ext cx="2697480" cy="109728"/>
          </a:xfrm>
          <a:prstGeom prst="roundRect">
            <a:avLst/>
          </a:prstGeom>
          <a:solidFill>
            <a:srgbClr val="C8912C"/>
          </a:solidFill>
          <a:ln w="12700">
            <a:solidFill>
              <a:srgbClr val="C89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4848" y="3273552"/>
            <a:ext cx="23682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决策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3685032"/>
            <a:ext cx="23682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pyfcstm 是否写成目标形式主义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" y="4572000"/>
            <a:ext cx="269748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6384" y="4572000"/>
            <a:ext cx="2697480" cy="109728"/>
          </a:xfrm>
          <a:prstGeom prst="roundRect">
            <a:avLst/>
          </a:prstGeom>
          <a:solidFill>
            <a:srgbClr val="A04B39"/>
          </a:solidFill>
          <a:ln w="12700">
            <a:solidFill>
              <a:srgbClr val="A04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4736592"/>
            <a:ext cx="23682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决策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5148072"/>
            <a:ext cx="23682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pyudbm 是否继续沉淀 backend 地基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03320" y="4572000"/>
            <a:ext cx="2697480" cy="1097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703320" y="4572000"/>
            <a:ext cx="2697480" cy="109728"/>
          </a:xfrm>
          <a:prstGeom prst="roundRect">
            <a:avLst/>
          </a:prstGeom>
          <a:solidFill>
            <a:srgbClr val="73876C"/>
          </a:solidFill>
          <a:ln w="12700">
            <a:solidFill>
              <a:srgbClr val="73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67911" y="4736592"/>
            <a:ext cx="23682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3354"/>
                </a:solidFill>
                <a:latin typeface="Noto Serif CJK SC"/>
              </a:rPr>
              <a:t>决策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7911" y="5148072"/>
            <a:ext cx="23682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430"/>
                </a:solidFill>
                <a:latin typeface="Noto Sans CJK SC"/>
              </a:rPr>
              <a:t>主稿是否按 feedback infrastructure 组织，并以 ESEM / journal 作近端出口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45168" y="3749039"/>
            <a:ext cx="2057400" cy="1920240"/>
          </a:xfrm>
          <a:prstGeom prst="roundRect">
            <a:avLst/>
          </a:prstGeom>
          <a:solidFill>
            <a:srgbClr val="F6ECD8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45168" y="3749039"/>
            <a:ext cx="2057400" cy="109728"/>
          </a:xfrm>
          <a:prstGeom prst="roundRect">
            <a:avLst/>
          </a:prstGeom>
          <a:solidFill>
            <a:srgbClr val="203354"/>
          </a:solidFill>
          <a:ln w="12700">
            <a:solidFill>
              <a:srgbClr val="20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913631"/>
            <a:ext cx="17282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03354"/>
                </a:solidFill>
                <a:latin typeface="Noto Serif CJK SC"/>
              </a:rPr>
              <a:t>收束判断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325112"/>
            <a:ext cx="17282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F2430"/>
                </a:solidFill>
                <a:latin typeface="Noto Sans CJK SC"/>
              </a:rPr>
              <a:t>只要 3-4 项能拍板，后面 6 周就能按“对象收束 -&gt; 实验拉厚 -&gt; 初稿成型 -&gt; ESEM / journal 选择”推进。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6309360"/>
            <a:ext cx="11045952" cy="9144"/>
          </a:xfrm>
          <a:prstGeom prst="rect">
            <a:avLst/>
          </a:prstGeom>
          <a:solidFill>
            <a:srgbClr val="D7CFC3"/>
          </a:solidFill>
          <a:ln w="12700">
            <a:solidFill>
              <a:srgbClr val="D7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" y="6345936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07E"/>
                </a:solidFill>
                <a:latin typeface="Noto Sans CJK SC"/>
              </a:rPr>
              <a:t>依据 [1][7][15]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27080" y="630936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8707E"/>
                </a:solidFill>
                <a:latin typeface="Noto Sans Mono CJK SC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2026-04-15-讨论</dc:title>
  <dc:subject>讨论 deck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